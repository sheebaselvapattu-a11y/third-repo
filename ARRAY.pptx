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60" r:id="rId6"/>
    <p:sldId id="261" r:id="rId7"/>
    <p:sldId id="262" r:id="rId8"/>
    <p:sldId id="265" r:id="rId9"/>
    <p:sldId id="264" r:id="rId10"/>
    <p:sldId id="266" r:id="rId11"/>
    <p:sldId id="267" r:id="rId12"/>
    <p:sldId id="268" r:id="rId13"/>
    <p:sldId id="270" r:id="rId14"/>
    <p:sldId id="271" r:id="rId15"/>
    <p:sldId id="272" r:id="rId16"/>
    <p:sldId id="273" r:id="rId17"/>
    <p:sldId id="269" r:id="rId18"/>
    <p:sldId id="274" r:id="rId19"/>
    <p:sldId id="275" r:id="rId20"/>
    <p:sldId id="318" r:id="rId21"/>
    <p:sldId id="276" r:id="rId22"/>
    <p:sldId id="277" r:id="rId23"/>
    <p:sldId id="278" r:id="rId24"/>
    <p:sldId id="279" r:id="rId25"/>
    <p:sldId id="280" r:id="rId26"/>
    <p:sldId id="302" r:id="rId27"/>
    <p:sldId id="281" r:id="rId28"/>
    <p:sldId id="283" r:id="rId29"/>
    <p:sldId id="282" r:id="rId30"/>
    <p:sldId id="287" r:id="rId31"/>
    <p:sldId id="288" r:id="rId32"/>
    <p:sldId id="289" r:id="rId33"/>
    <p:sldId id="290" r:id="rId34"/>
    <p:sldId id="291" r:id="rId35"/>
    <p:sldId id="292" r:id="rId36"/>
    <p:sldId id="301" r:id="rId37"/>
    <p:sldId id="303" r:id="rId38"/>
    <p:sldId id="304" r:id="rId39"/>
    <p:sldId id="305" r:id="rId40"/>
    <p:sldId id="316" r:id="rId41"/>
    <p:sldId id="306" r:id="rId42"/>
    <p:sldId id="307" r:id="rId43"/>
    <p:sldId id="308" r:id="rId44"/>
    <p:sldId id="309" r:id="rId45"/>
    <p:sldId id="310" r:id="rId46"/>
    <p:sldId id="311" r:id="rId47"/>
    <p:sldId id="312" r:id="rId48"/>
    <p:sldId id="315" r:id="rId49"/>
    <p:sldId id="313" r:id="rId50"/>
    <p:sldId id="314" r:id="rId51"/>
    <p:sldId id="317" r:id="rId52"/>
    <p:sldId id="319" r:id="rId53"/>
    <p:sldId id="32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4" d="100"/>
          <a:sy n="84" d="100"/>
        </p:scale>
        <p:origin x="54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FAD8275-23E9-424F-94DF-4F7A4614864B}" type="datetimeFigureOut">
              <a:rPr lang="en-GB" smtClean="0"/>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3360921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FAD8275-23E9-424F-94DF-4F7A4614864B}" type="datetimeFigureOut">
              <a:rPr lang="en-GB" smtClean="0"/>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3551635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AD8275-23E9-424F-94DF-4F7A4614864B}" type="datetimeFigureOut">
              <a:rPr lang="en-GB" smtClean="0"/>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139474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FAD8275-23E9-424F-94DF-4F7A4614864B}" type="datetimeFigureOut">
              <a:rPr lang="en-GB" smtClean="0"/>
              <a:t>21/11/2025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3507179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FAD8275-23E9-424F-94DF-4F7A4614864B}" type="datetimeFigureOut">
              <a:rPr lang="en-GB" smtClean="0"/>
              <a:t>21/11/2025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122808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FAD8275-23E9-424F-94DF-4F7A4614864B}" type="datetimeFigureOut">
              <a:rPr lang="en-GB" smtClean="0"/>
              <a:t>21/11/2025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2904852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AD8275-23E9-424F-94DF-4F7A4614864B}" type="datetimeFigureOut">
              <a:rPr lang="en-GB" smtClean="0"/>
              <a:t>21/11/2025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407232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AD8275-23E9-424F-94DF-4F7A4614864B}" type="datetimeFigureOut">
              <a:rPr lang="en-GB" smtClean="0"/>
              <a:t>21/11/2025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38918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AD8275-23E9-424F-94DF-4F7A4614864B}" type="datetimeFigureOut">
              <a:rPr lang="en-GB" smtClean="0"/>
              <a:t>21/11/2025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1246565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FAD8275-23E9-424F-94DF-4F7A4614864B}" type="datetimeFigureOut">
              <a:rPr lang="en-GB" smtClean="0"/>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219606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FAD8275-23E9-424F-94DF-4F7A4614864B}" type="datetimeFigureOut">
              <a:rPr lang="en-GB" smtClean="0"/>
              <a:t>21/11/2025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512044-5B30-4C0C-916E-38BA7CAB91BC}" type="slidenum">
              <a:rPr lang="en-GB" smtClean="0"/>
              <a:t>‹#›</a:t>
            </a:fld>
            <a:endParaRPr lang="en-GB"/>
          </a:p>
        </p:txBody>
      </p:sp>
    </p:spTree>
    <p:extLst>
      <p:ext uri="{BB962C8B-B14F-4D97-AF65-F5344CB8AC3E}">
        <p14:creationId xmlns:p14="http://schemas.microsoft.com/office/powerpoint/2010/main" val="4125273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D8275-23E9-424F-94DF-4F7A4614864B}" type="datetimeFigureOut">
              <a:rPr lang="en-GB" smtClean="0"/>
              <a:t>21/11/2025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12044-5B30-4C0C-916E-38BA7CAB91BC}" type="slidenum">
              <a:rPr lang="en-GB" smtClean="0"/>
              <a:t>‹#›</a:t>
            </a:fld>
            <a:endParaRPr lang="en-GB"/>
          </a:p>
        </p:txBody>
      </p:sp>
    </p:spTree>
    <p:extLst>
      <p:ext uri="{BB962C8B-B14F-4D97-AF65-F5344CB8AC3E}">
        <p14:creationId xmlns:p14="http://schemas.microsoft.com/office/powerpoint/2010/main" val="3540430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c/c-loop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ARRAY</a:t>
            </a:r>
            <a:endParaRPr lang="en-GB" dirty="0"/>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7968306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Array </a:t>
            </a:r>
          </a:p>
        </p:txBody>
      </p:sp>
      <p:sp>
        <p:nvSpPr>
          <p:cNvPr id="3" name="Content Placeholder 2"/>
          <p:cNvSpPr>
            <a:spLocks noGrp="1"/>
          </p:cNvSpPr>
          <p:nvPr>
            <p:ph idx="1"/>
          </p:nvPr>
        </p:nvSpPr>
        <p:spPr/>
        <p:txBody>
          <a:bodyPr/>
          <a:lstStyle/>
          <a:p>
            <a:r>
              <a:rPr lang="en-GB" dirty="0"/>
              <a:t>An array</a:t>
            </a:r>
            <a:r>
              <a:rPr lang="en-GB" b="1" dirty="0"/>
              <a:t> </a:t>
            </a:r>
            <a:r>
              <a:rPr lang="en-GB" dirty="0"/>
              <a:t>is a collection of items of the same variable type that are stored at contiguous memory locations. It is one of the most popular and simple data structures used in programming</a:t>
            </a:r>
            <a:r>
              <a:rPr lang="en-GB" dirty="0" smtClean="0"/>
              <a:t>.</a:t>
            </a:r>
          </a:p>
          <a:p>
            <a:endParaRPr lang="en-GB" dirty="0"/>
          </a:p>
          <a:p>
            <a:pPr fontAlgn="base"/>
            <a:r>
              <a:rPr lang="en-GB" b="1" dirty="0"/>
              <a:t>Basic terminologies of Array</a:t>
            </a:r>
          </a:p>
          <a:p>
            <a:pPr fontAlgn="base"/>
            <a:r>
              <a:rPr lang="en-GB" b="1" dirty="0"/>
              <a:t>Array Element: </a:t>
            </a:r>
            <a:r>
              <a:rPr lang="en-GB" dirty="0"/>
              <a:t>Elements are items stored in an array.</a:t>
            </a:r>
          </a:p>
          <a:p>
            <a:pPr fontAlgn="base"/>
            <a:r>
              <a:rPr lang="en-GB" b="1" dirty="0"/>
              <a:t>Array Index:</a:t>
            </a:r>
            <a:r>
              <a:rPr lang="en-GB" dirty="0"/>
              <a:t> Elements are accessed by their indexes. Indexes in most of the programming languages start from 0. </a:t>
            </a:r>
          </a:p>
          <a:p>
            <a:endParaRPr lang="en-GB" dirty="0"/>
          </a:p>
        </p:txBody>
      </p:sp>
    </p:spTree>
    <p:extLst>
      <p:ext uri="{BB962C8B-B14F-4D97-AF65-F5344CB8AC3E}">
        <p14:creationId xmlns:p14="http://schemas.microsoft.com/office/powerpoint/2010/main" val="35191388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3054146" y="1825625"/>
            <a:ext cx="6083707" cy="4351338"/>
          </a:xfrm>
          <a:prstGeom prst="rect">
            <a:avLst/>
          </a:prstGeom>
        </p:spPr>
      </p:pic>
    </p:spTree>
    <p:extLst>
      <p:ext uri="{BB962C8B-B14F-4D97-AF65-F5344CB8AC3E}">
        <p14:creationId xmlns:p14="http://schemas.microsoft.com/office/powerpoint/2010/main" val="20495281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Memory representation of Array</a:t>
            </a:r>
          </a:p>
        </p:txBody>
      </p:sp>
      <p:sp>
        <p:nvSpPr>
          <p:cNvPr id="3" name="Content Placeholder 2"/>
          <p:cNvSpPr>
            <a:spLocks noGrp="1"/>
          </p:cNvSpPr>
          <p:nvPr>
            <p:ph idx="1"/>
          </p:nvPr>
        </p:nvSpPr>
        <p:spPr/>
        <p:txBody>
          <a:bodyPr/>
          <a:lstStyle/>
          <a:p>
            <a:r>
              <a:rPr lang="en-GB" dirty="0"/>
              <a:t>In an array, all the elements or their references are stored in contiguous memory locations. This allows for efficient access and manipulation of elements.</a:t>
            </a:r>
          </a:p>
        </p:txBody>
      </p:sp>
      <p:pic>
        <p:nvPicPr>
          <p:cNvPr id="4" name="Picture 3"/>
          <p:cNvPicPr>
            <a:picLocks noChangeAspect="1"/>
          </p:cNvPicPr>
          <p:nvPr/>
        </p:nvPicPr>
        <p:blipFill>
          <a:blip r:embed="rId2"/>
          <a:stretch>
            <a:fillRect/>
          </a:stretch>
        </p:blipFill>
        <p:spPr>
          <a:xfrm>
            <a:off x="2593819" y="3249565"/>
            <a:ext cx="6124669" cy="3062335"/>
          </a:xfrm>
          <a:prstGeom prst="rect">
            <a:avLst/>
          </a:prstGeom>
        </p:spPr>
      </p:pic>
    </p:spTree>
    <p:extLst>
      <p:ext uri="{BB962C8B-B14F-4D97-AF65-F5344CB8AC3E}">
        <p14:creationId xmlns:p14="http://schemas.microsoft.com/office/powerpoint/2010/main" val="37184631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2286000" y="2096294"/>
            <a:ext cx="7620000" cy="3810000"/>
          </a:xfrm>
          <a:prstGeom prst="rect">
            <a:avLst/>
          </a:prstGeom>
        </p:spPr>
      </p:pic>
    </p:spTree>
    <p:extLst>
      <p:ext uri="{BB962C8B-B14F-4D97-AF65-F5344CB8AC3E}">
        <p14:creationId xmlns:p14="http://schemas.microsoft.com/office/powerpoint/2010/main" val="10764315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Declaration of Array</a:t>
            </a:r>
          </a:p>
        </p:txBody>
      </p:sp>
      <p:sp>
        <p:nvSpPr>
          <p:cNvPr id="3" name="Content Placeholder 2"/>
          <p:cNvSpPr>
            <a:spLocks noGrp="1"/>
          </p:cNvSpPr>
          <p:nvPr>
            <p:ph idx="1"/>
          </p:nvPr>
        </p:nvSpPr>
        <p:spPr/>
        <p:txBody>
          <a:bodyPr>
            <a:normAutofit/>
          </a:bodyPr>
          <a:lstStyle/>
          <a:p>
            <a:r>
              <a:rPr lang="en-GB" dirty="0"/>
              <a:t>Array declaration is the process of specifying the type, name, and size of the array. In C, we have to declare the array like any other variable before using it.</a:t>
            </a:r>
          </a:p>
          <a:p>
            <a:r>
              <a:rPr lang="en-GB" dirty="0" smtClean="0"/>
              <a:t>// This array will store integer type element</a:t>
            </a:r>
          </a:p>
          <a:p>
            <a:r>
              <a:rPr lang="en-GB" dirty="0" err="1" smtClean="0"/>
              <a:t>int</a:t>
            </a:r>
            <a:r>
              <a:rPr lang="en-GB" dirty="0" smtClean="0"/>
              <a:t> </a:t>
            </a:r>
            <a:r>
              <a:rPr lang="en-GB" dirty="0" err="1" smtClean="0"/>
              <a:t>arr</a:t>
            </a:r>
            <a:r>
              <a:rPr lang="en-GB" dirty="0" smtClean="0"/>
              <a:t>[5];      </a:t>
            </a:r>
          </a:p>
          <a:p>
            <a:r>
              <a:rPr lang="en-GB" dirty="0" smtClean="0"/>
              <a:t>// This array will store char type element</a:t>
            </a:r>
          </a:p>
          <a:p>
            <a:r>
              <a:rPr lang="en-GB" dirty="0" smtClean="0"/>
              <a:t>char </a:t>
            </a:r>
            <a:r>
              <a:rPr lang="en-GB" dirty="0" err="1" smtClean="0"/>
              <a:t>arr</a:t>
            </a:r>
            <a:r>
              <a:rPr lang="en-GB" dirty="0" smtClean="0"/>
              <a:t>[10];   </a:t>
            </a:r>
          </a:p>
          <a:p>
            <a:r>
              <a:rPr lang="en-GB" dirty="0" smtClean="0"/>
              <a:t>// This array will store float type element</a:t>
            </a:r>
          </a:p>
          <a:p>
            <a:r>
              <a:rPr lang="en-GB" dirty="0" smtClean="0"/>
              <a:t>float </a:t>
            </a:r>
            <a:r>
              <a:rPr lang="en-GB" dirty="0" err="1" smtClean="0"/>
              <a:t>arr</a:t>
            </a:r>
            <a:r>
              <a:rPr lang="en-GB" dirty="0" smtClean="0"/>
              <a:t>[20]; </a:t>
            </a:r>
            <a:endParaRPr lang="en-GB" dirty="0"/>
          </a:p>
        </p:txBody>
      </p:sp>
      <p:pic>
        <p:nvPicPr>
          <p:cNvPr id="5" name="Picture 4"/>
          <p:cNvPicPr>
            <a:picLocks noChangeAspect="1"/>
          </p:cNvPicPr>
          <p:nvPr/>
        </p:nvPicPr>
        <p:blipFill>
          <a:blip r:embed="rId2"/>
          <a:stretch>
            <a:fillRect/>
          </a:stretch>
        </p:blipFill>
        <p:spPr>
          <a:xfrm>
            <a:off x="7517016" y="3077061"/>
            <a:ext cx="4297757" cy="2019946"/>
          </a:xfrm>
          <a:prstGeom prst="rect">
            <a:avLst/>
          </a:prstGeom>
        </p:spPr>
      </p:pic>
    </p:spTree>
    <p:extLst>
      <p:ext uri="{BB962C8B-B14F-4D97-AF65-F5344CB8AC3E}">
        <p14:creationId xmlns:p14="http://schemas.microsoft.com/office/powerpoint/2010/main" val="29190313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Initialization of Array</a:t>
            </a:r>
          </a:p>
        </p:txBody>
      </p:sp>
      <p:sp>
        <p:nvSpPr>
          <p:cNvPr id="3" name="Content Placeholder 2"/>
          <p:cNvSpPr>
            <a:spLocks noGrp="1"/>
          </p:cNvSpPr>
          <p:nvPr>
            <p:ph idx="1"/>
          </p:nvPr>
        </p:nvSpPr>
        <p:spPr/>
        <p:txBody>
          <a:bodyPr>
            <a:normAutofit/>
          </a:bodyPr>
          <a:lstStyle/>
          <a:p>
            <a:pPr fontAlgn="base"/>
            <a:r>
              <a:rPr lang="en-GB" dirty="0"/>
              <a:t>When the array is declared or allocated memory, the elements of the array contain some garbage value. So, we need to initialize the array to some meaningful values.</a:t>
            </a:r>
          </a:p>
          <a:p>
            <a:endParaRPr lang="en-GB" dirty="0"/>
          </a:p>
          <a:p>
            <a:r>
              <a:rPr lang="en-GB" dirty="0" err="1" smtClean="0"/>
              <a:t>int</a:t>
            </a:r>
            <a:r>
              <a:rPr lang="en-GB" dirty="0" smtClean="0"/>
              <a:t> </a:t>
            </a:r>
            <a:r>
              <a:rPr lang="en-GB" dirty="0" err="1" smtClean="0"/>
              <a:t>arr</a:t>
            </a:r>
            <a:r>
              <a:rPr lang="en-GB" dirty="0" smtClean="0"/>
              <a:t>[] = { 1, 2, 3, 4, 5 };</a:t>
            </a:r>
          </a:p>
          <a:p>
            <a:r>
              <a:rPr lang="en-GB" dirty="0" smtClean="0"/>
              <a:t>char </a:t>
            </a:r>
            <a:r>
              <a:rPr lang="en-GB" dirty="0" err="1" smtClean="0"/>
              <a:t>arr</a:t>
            </a:r>
            <a:r>
              <a:rPr lang="en-GB" dirty="0" smtClean="0"/>
              <a:t>[5] = { 'a', 'b', 'c', 'd', 'e' };</a:t>
            </a:r>
          </a:p>
          <a:p>
            <a:r>
              <a:rPr lang="en-GB" dirty="0" smtClean="0"/>
              <a:t>float </a:t>
            </a:r>
            <a:r>
              <a:rPr lang="en-GB" dirty="0" err="1" smtClean="0"/>
              <a:t>arr</a:t>
            </a:r>
            <a:r>
              <a:rPr lang="en-GB" dirty="0" smtClean="0"/>
              <a:t>[10] = { 1.4, 2.0, 24, 5.0, 0.0 };</a:t>
            </a:r>
            <a:endParaRPr lang="en-GB" dirty="0"/>
          </a:p>
        </p:txBody>
      </p:sp>
      <p:pic>
        <p:nvPicPr>
          <p:cNvPr id="5" name="Picture 4"/>
          <p:cNvPicPr>
            <a:picLocks noChangeAspect="1"/>
          </p:cNvPicPr>
          <p:nvPr/>
        </p:nvPicPr>
        <p:blipFill>
          <a:blip r:embed="rId2"/>
          <a:stretch>
            <a:fillRect/>
          </a:stretch>
        </p:blipFill>
        <p:spPr>
          <a:xfrm>
            <a:off x="6803679" y="3253965"/>
            <a:ext cx="4250602" cy="2125301"/>
          </a:xfrm>
          <a:prstGeom prst="rect">
            <a:avLst/>
          </a:prstGeom>
        </p:spPr>
      </p:pic>
    </p:spTree>
    <p:extLst>
      <p:ext uri="{BB962C8B-B14F-4D97-AF65-F5344CB8AC3E}">
        <p14:creationId xmlns:p14="http://schemas.microsoft.com/office/powerpoint/2010/main" val="30738372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a:t>Array in C provides random access to its elements, which means that we can access any element of the array by providing the position of the element, called the index.</a:t>
            </a:r>
          </a:p>
        </p:txBody>
      </p:sp>
      <p:sp>
        <p:nvSpPr>
          <p:cNvPr id="4" name="AutoShape 2" descr="c-array-initialization.webp"/>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r>
              <a:rPr lang="en-GB" b="1" dirty="0"/>
              <a:t>Accessing Array Elements</a:t>
            </a:r>
          </a:p>
        </p:txBody>
      </p:sp>
      <p:pic>
        <p:nvPicPr>
          <p:cNvPr id="5" name="Picture 4"/>
          <p:cNvPicPr>
            <a:picLocks noChangeAspect="1"/>
          </p:cNvPicPr>
          <p:nvPr/>
        </p:nvPicPr>
        <p:blipFill>
          <a:blip r:embed="rId2"/>
          <a:stretch>
            <a:fillRect/>
          </a:stretch>
        </p:blipFill>
        <p:spPr>
          <a:xfrm>
            <a:off x="2530443" y="3294832"/>
            <a:ext cx="6034135" cy="3017068"/>
          </a:xfrm>
          <a:prstGeom prst="rect">
            <a:avLst/>
          </a:prstGeom>
        </p:spPr>
      </p:pic>
    </p:spTree>
    <p:extLst>
      <p:ext uri="{BB962C8B-B14F-4D97-AF65-F5344CB8AC3E}">
        <p14:creationId xmlns:p14="http://schemas.microsoft.com/office/powerpoint/2010/main" val="30432251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903" y="413283"/>
            <a:ext cx="10611416" cy="6313441"/>
          </a:xfrm>
        </p:spPr>
        <p:txBody>
          <a:bodyPr>
            <a:normAutofit/>
          </a:bodyPr>
          <a:lstStyle/>
          <a:p>
            <a:r>
              <a:rPr lang="en-GB" dirty="0" smtClean="0"/>
              <a:t>#include &lt;</a:t>
            </a:r>
            <a:r>
              <a:rPr lang="en-GB" dirty="0" err="1" smtClean="0"/>
              <a:t>stdio.h</a:t>
            </a:r>
            <a:r>
              <a:rPr lang="en-GB" dirty="0" smtClean="0"/>
              <a:t>&gt;</a:t>
            </a:r>
          </a:p>
          <a:p>
            <a:r>
              <a:rPr lang="en-GB" dirty="0" err="1" smtClean="0"/>
              <a:t>int</a:t>
            </a:r>
            <a:r>
              <a:rPr lang="en-GB" dirty="0" smtClean="0"/>
              <a:t> main() {</a:t>
            </a:r>
          </a:p>
          <a:p>
            <a:r>
              <a:rPr lang="en-GB" dirty="0" smtClean="0"/>
              <a:t>    // array declaration and initialization</a:t>
            </a:r>
          </a:p>
          <a:p>
            <a:r>
              <a:rPr lang="en-GB" dirty="0" smtClean="0"/>
              <a:t>    </a:t>
            </a:r>
            <a:r>
              <a:rPr lang="en-GB" dirty="0" err="1" smtClean="0"/>
              <a:t>int</a:t>
            </a:r>
            <a:r>
              <a:rPr lang="en-GB" dirty="0" smtClean="0"/>
              <a:t> </a:t>
            </a:r>
            <a:r>
              <a:rPr lang="en-GB" dirty="0" err="1" smtClean="0"/>
              <a:t>arr</a:t>
            </a:r>
            <a:r>
              <a:rPr lang="en-GB" dirty="0" smtClean="0"/>
              <a:t>[5] = {2, 4, 8, 12, 16};</a:t>
            </a:r>
          </a:p>
          <a:p>
            <a:r>
              <a:rPr lang="en-GB" dirty="0" smtClean="0"/>
              <a:t>    // accessing element at index 2 </a:t>
            </a:r>
            <a:r>
              <a:rPr lang="en-GB" dirty="0" err="1" smtClean="0"/>
              <a:t>i.e</a:t>
            </a:r>
            <a:r>
              <a:rPr lang="en-GB" dirty="0" smtClean="0"/>
              <a:t> 3rd element</a:t>
            </a:r>
          </a:p>
          <a:p>
            <a:r>
              <a:rPr lang="en-GB" dirty="0" smtClean="0"/>
              <a:t>    </a:t>
            </a:r>
            <a:r>
              <a:rPr lang="en-GB" dirty="0" err="1" smtClean="0"/>
              <a:t>printf</a:t>
            </a:r>
            <a:r>
              <a:rPr lang="en-GB" dirty="0" smtClean="0"/>
              <a:t>("%d ", </a:t>
            </a:r>
            <a:r>
              <a:rPr lang="en-GB" dirty="0" err="1" smtClean="0"/>
              <a:t>arr</a:t>
            </a:r>
            <a:r>
              <a:rPr lang="en-GB" dirty="0" smtClean="0"/>
              <a:t>[2]);</a:t>
            </a:r>
          </a:p>
          <a:p>
            <a:r>
              <a:rPr lang="en-GB" dirty="0" smtClean="0"/>
              <a:t>    // accessing element at index 4 </a:t>
            </a:r>
            <a:r>
              <a:rPr lang="en-GB" dirty="0" err="1" smtClean="0"/>
              <a:t>i.e</a:t>
            </a:r>
            <a:r>
              <a:rPr lang="en-GB" dirty="0" smtClean="0"/>
              <a:t> last element</a:t>
            </a:r>
          </a:p>
          <a:p>
            <a:r>
              <a:rPr lang="en-GB" dirty="0" smtClean="0"/>
              <a:t>    </a:t>
            </a:r>
            <a:r>
              <a:rPr lang="en-GB" dirty="0" err="1" smtClean="0"/>
              <a:t>printf</a:t>
            </a:r>
            <a:r>
              <a:rPr lang="en-GB" dirty="0" smtClean="0"/>
              <a:t>("%d ", </a:t>
            </a:r>
            <a:r>
              <a:rPr lang="en-GB" dirty="0" err="1" smtClean="0"/>
              <a:t>arr</a:t>
            </a:r>
            <a:r>
              <a:rPr lang="en-GB" dirty="0" smtClean="0"/>
              <a:t>[4]);</a:t>
            </a:r>
          </a:p>
          <a:p>
            <a:r>
              <a:rPr lang="en-GB" dirty="0" smtClean="0"/>
              <a:t>    // accessing element at index 0 </a:t>
            </a:r>
            <a:r>
              <a:rPr lang="en-GB" dirty="0" err="1" smtClean="0"/>
              <a:t>i.e</a:t>
            </a:r>
            <a:r>
              <a:rPr lang="en-GB" dirty="0" smtClean="0"/>
              <a:t> first element</a:t>
            </a:r>
          </a:p>
          <a:p>
            <a:r>
              <a:rPr lang="en-GB" dirty="0" smtClean="0"/>
              <a:t>    </a:t>
            </a:r>
            <a:r>
              <a:rPr lang="en-GB" dirty="0" err="1" smtClean="0"/>
              <a:t>printf</a:t>
            </a:r>
            <a:r>
              <a:rPr lang="en-GB" dirty="0" smtClean="0"/>
              <a:t>("%d ", </a:t>
            </a:r>
            <a:r>
              <a:rPr lang="en-GB" dirty="0" err="1" smtClean="0"/>
              <a:t>arr</a:t>
            </a:r>
            <a:r>
              <a:rPr lang="en-GB" dirty="0" smtClean="0"/>
              <a:t>[0]);</a:t>
            </a:r>
          </a:p>
          <a:p>
            <a:r>
              <a:rPr lang="en-GB" dirty="0" smtClean="0"/>
              <a:t>    return 0;</a:t>
            </a:r>
          </a:p>
          <a:p>
            <a:r>
              <a:rPr lang="en-GB" dirty="0" smtClean="0"/>
              <a:t>}</a:t>
            </a:r>
            <a:endParaRPr lang="en-GB" dirty="0"/>
          </a:p>
        </p:txBody>
      </p:sp>
    </p:spTree>
    <p:extLst>
      <p:ext uri="{BB962C8B-B14F-4D97-AF65-F5344CB8AC3E}">
        <p14:creationId xmlns:p14="http://schemas.microsoft.com/office/powerpoint/2010/main" val="4077900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Update Array Element</a:t>
            </a:r>
          </a:p>
        </p:txBody>
      </p:sp>
      <p:sp>
        <p:nvSpPr>
          <p:cNvPr id="3" name="Content Placeholder 2"/>
          <p:cNvSpPr>
            <a:spLocks noGrp="1"/>
          </p:cNvSpPr>
          <p:nvPr>
            <p:ph idx="1"/>
          </p:nvPr>
        </p:nvSpPr>
        <p:spPr/>
        <p:txBody>
          <a:bodyPr>
            <a:normAutofit fontScale="70000" lnSpcReduction="20000"/>
          </a:bodyPr>
          <a:lstStyle/>
          <a:p>
            <a:pPr fontAlgn="base"/>
            <a:r>
              <a:rPr lang="en-GB" dirty="0"/>
              <a:t>We can update the value of array elements at the given index </a:t>
            </a:r>
            <a:r>
              <a:rPr lang="en-GB" dirty="0" err="1"/>
              <a:t>i</a:t>
            </a:r>
            <a:r>
              <a:rPr lang="en-GB" dirty="0"/>
              <a:t> in a similar way to accessing an element by using the array </a:t>
            </a:r>
            <a:r>
              <a:rPr lang="en-GB" b="1" dirty="0"/>
              <a:t>square brackets [] </a:t>
            </a:r>
            <a:r>
              <a:rPr lang="en-GB" dirty="0"/>
              <a:t>and </a:t>
            </a:r>
            <a:r>
              <a:rPr lang="en-GB" b="1" dirty="0"/>
              <a:t>assignment operator </a:t>
            </a:r>
            <a:r>
              <a:rPr lang="en-GB" b="1" dirty="0" smtClean="0"/>
              <a:t>(=)</a:t>
            </a:r>
            <a:r>
              <a:rPr lang="en-GB" dirty="0" smtClean="0"/>
              <a:t>.</a:t>
            </a:r>
          </a:p>
          <a:p>
            <a:pPr fontAlgn="base"/>
            <a:r>
              <a:rPr lang="en-GB" b="1" dirty="0" smtClean="0"/>
              <a:t>#include &lt;</a:t>
            </a:r>
            <a:r>
              <a:rPr lang="en-GB" b="1" dirty="0" err="1" smtClean="0"/>
              <a:t>stdio.h</a:t>
            </a:r>
            <a:r>
              <a:rPr lang="en-GB" b="1" dirty="0" smtClean="0"/>
              <a:t>&gt;</a:t>
            </a:r>
          </a:p>
          <a:p>
            <a:pPr fontAlgn="base"/>
            <a:endParaRPr lang="en-GB" b="1" dirty="0" smtClean="0"/>
          </a:p>
          <a:p>
            <a:pPr fontAlgn="base"/>
            <a:r>
              <a:rPr lang="en-GB" b="1" dirty="0" err="1" smtClean="0"/>
              <a:t>int</a:t>
            </a:r>
            <a:r>
              <a:rPr lang="en-GB" b="1" dirty="0" smtClean="0"/>
              <a:t> main() {</a:t>
            </a:r>
          </a:p>
          <a:p>
            <a:pPr fontAlgn="base"/>
            <a:r>
              <a:rPr lang="en-GB" b="1" dirty="0" smtClean="0"/>
              <a:t>    </a:t>
            </a:r>
            <a:r>
              <a:rPr lang="en-GB" b="1" dirty="0" err="1" smtClean="0"/>
              <a:t>int</a:t>
            </a:r>
            <a:r>
              <a:rPr lang="en-GB" b="1" dirty="0" smtClean="0"/>
              <a:t> </a:t>
            </a:r>
            <a:r>
              <a:rPr lang="en-GB" b="1" dirty="0" err="1" smtClean="0"/>
              <a:t>arr</a:t>
            </a:r>
            <a:r>
              <a:rPr lang="en-GB" b="1" dirty="0" smtClean="0"/>
              <a:t>[5] = {2, 4, 8, 12, 16};</a:t>
            </a:r>
          </a:p>
          <a:p>
            <a:pPr fontAlgn="base"/>
            <a:endParaRPr lang="en-GB" b="1" dirty="0" smtClean="0"/>
          </a:p>
          <a:p>
            <a:pPr fontAlgn="base"/>
            <a:r>
              <a:rPr lang="en-GB" b="1" dirty="0" smtClean="0"/>
              <a:t>    // Update the first value</a:t>
            </a:r>
          </a:p>
          <a:p>
            <a:pPr fontAlgn="base"/>
            <a:r>
              <a:rPr lang="en-GB" b="1" dirty="0" smtClean="0"/>
              <a:t>    // of the array</a:t>
            </a:r>
          </a:p>
          <a:p>
            <a:pPr fontAlgn="base"/>
            <a:r>
              <a:rPr lang="en-GB" b="1" dirty="0" smtClean="0"/>
              <a:t>    </a:t>
            </a:r>
            <a:r>
              <a:rPr lang="en-GB" b="1" dirty="0" err="1" smtClean="0"/>
              <a:t>arr</a:t>
            </a:r>
            <a:r>
              <a:rPr lang="en-GB" b="1" dirty="0" smtClean="0"/>
              <a:t>[0] = 1;</a:t>
            </a:r>
          </a:p>
          <a:p>
            <a:pPr fontAlgn="base"/>
            <a:r>
              <a:rPr lang="en-GB" b="1" dirty="0" smtClean="0"/>
              <a:t>    </a:t>
            </a:r>
            <a:r>
              <a:rPr lang="en-GB" b="1" dirty="0" err="1" smtClean="0"/>
              <a:t>printf</a:t>
            </a:r>
            <a:r>
              <a:rPr lang="en-GB" b="1" dirty="0" smtClean="0"/>
              <a:t>("%d", </a:t>
            </a:r>
            <a:r>
              <a:rPr lang="en-GB" b="1" dirty="0" err="1" smtClean="0"/>
              <a:t>arr</a:t>
            </a:r>
            <a:r>
              <a:rPr lang="en-GB" b="1" dirty="0" smtClean="0"/>
              <a:t>[0]);</a:t>
            </a:r>
          </a:p>
          <a:p>
            <a:pPr fontAlgn="base"/>
            <a:r>
              <a:rPr lang="en-GB" b="1" dirty="0" smtClean="0"/>
              <a:t>    return 0;</a:t>
            </a:r>
          </a:p>
          <a:p>
            <a:pPr fontAlgn="base"/>
            <a:r>
              <a:rPr lang="en-GB" b="1" dirty="0" smtClean="0"/>
              <a:t>}</a:t>
            </a:r>
            <a:endParaRPr lang="en-GB" b="1" dirty="0"/>
          </a:p>
        </p:txBody>
      </p:sp>
    </p:spTree>
    <p:extLst>
      <p:ext uri="{BB962C8B-B14F-4D97-AF65-F5344CB8AC3E}">
        <p14:creationId xmlns:p14="http://schemas.microsoft.com/office/powerpoint/2010/main" val="35615612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C Array Traversal</a:t>
            </a:r>
          </a:p>
        </p:txBody>
      </p:sp>
      <p:sp>
        <p:nvSpPr>
          <p:cNvPr id="3" name="Content Placeholder 2"/>
          <p:cNvSpPr>
            <a:spLocks noGrp="1"/>
          </p:cNvSpPr>
          <p:nvPr>
            <p:ph idx="1"/>
          </p:nvPr>
        </p:nvSpPr>
        <p:spPr/>
        <p:txBody>
          <a:bodyPr/>
          <a:lstStyle/>
          <a:p>
            <a:r>
              <a:rPr lang="en-GB" dirty="0"/>
              <a:t>Array Traversal is the process in which we visit every element of the array in a specific order. For C array traversal, we use </a:t>
            </a:r>
            <a:r>
              <a:rPr lang="en-GB" b="1" u="sng" dirty="0">
                <a:hlinkClick r:id="rId2"/>
              </a:rPr>
              <a:t>loops</a:t>
            </a:r>
            <a:r>
              <a:rPr lang="en-GB" dirty="0"/>
              <a:t> to iterate through each element of the array.</a:t>
            </a:r>
          </a:p>
        </p:txBody>
      </p:sp>
    </p:spTree>
    <p:extLst>
      <p:ext uri="{BB962C8B-B14F-4D97-AF65-F5344CB8AC3E}">
        <p14:creationId xmlns:p14="http://schemas.microsoft.com/office/powerpoint/2010/main" val="23059973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4812" y="181069"/>
            <a:ext cx="10538988" cy="5995894"/>
          </a:xfrm>
        </p:spPr>
        <p:txBody>
          <a:bodyPr>
            <a:normAutofit fontScale="77500" lnSpcReduction="20000"/>
          </a:bodyPr>
          <a:lstStyle/>
          <a:p>
            <a:r>
              <a:rPr lang="en-GB" dirty="0" smtClean="0"/>
              <a:t>#include &lt;</a:t>
            </a:r>
            <a:r>
              <a:rPr lang="en-GB" dirty="0" err="1" smtClean="0"/>
              <a:t>stdio.h</a:t>
            </a:r>
            <a:r>
              <a:rPr lang="en-GB" dirty="0" smtClean="0"/>
              <a:t>&gt;</a:t>
            </a:r>
          </a:p>
          <a:p>
            <a:endParaRPr lang="en-GB" dirty="0" smtClean="0"/>
          </a:p>
          <a:p>
            <a:r>
              <a:rPr lang="en-GB" dirty="0" err="1" smtClean="0"/>
              <a:t>int</a:t>
            </a:r>
            <a:r>
              <a:rPr lang="en-GB" dirty="0" smtClean="0"/>
              <a:t> main() {</a:t>
            </a:r>
          </a:p>
          <a:p>
            <a:r>
              <a:rPr lang="en-GB" dirty="0" smtClean="0"/>
              <a:t>    </a:t>
            </a:r>
            <a:r>
              <a:rPr lang="en-GB" dirty="0" err="1" smtClean="0"/>
              <a:t>int</a:t>
            </a:r>
            <a:r>
              <a:rPr lang="en-GB" dirty="0" smtClean="0"/>
              <a:t> </a:t>
            </a:r>
            <a:r>
              <a:rPr lang="en-GB" dirty="0" err="1" smtClean="0"/>
              <a:t>arr</a:t>
            </a:r>
            <a:r>
              <a:rPr lang="en-GB" dirty="0" smtClean="0"/>
              <a:t>[5] = {2, 4, 8, 12, 16};</a:t>
            </a:r>
          </a:p>
          <a:p>
            <a:r>
              <a:rPr lang="en-GB" dirty="0" smtClean="0"/>
              <a:t>    </a:t>
            </a:r>
          </a:p>
          <a:p>
            <a:r>
              <a:rPr lang="en-GB" dirty="0" smtClean="0"/>
              <a:t>    // Print each element of</a:t>
            </a:r>
          </a:p>
          <a:p>
            <a:r>
              <a:rPr lang="en-GB" dirty="0" smtClean="0"/>
              <a:t>    // array using loop</a:t>
            </a:r>
          </a:p>
          <a:p>
            <a:r>
              <a:rPr lang="en-GB" dirty="0" smtClean="0"/>
              <a:t>    </a:t>
            </a:r>
            <a:r>
              <a:rPr lang="en-GB" dirty="0" err="1" smtClean="0"/>
              <a:t>printf</a:t>
            </a:r>
            <a:r>
              <a:rPr lang="en-GB" dirty="0" smtClean="0"/>
              <a:t>("Printing Array Elements\n"); </a:t>
            </a:r>
          </a:p>
          <a:p>
            <a:r>
              <a:rPr lang="en-GB" dirty="0" smtClean="0"/>
              <a:t>    for(</a:t>
            </a:r>
            <a:r>
              <a:rPr lang="en-GB" dirty="0" err="1" smtClean="0"/>
              <a:t>int</a:t>
            </a:r>
            <a:r>
              <a:rPr lang="en-GB" dirty="0" smtClean="0"/>
              <a:t> </a:t>
            </a:r>
            <a:r>
              <a:rPr lang="en-GB" dirty="0" err="1" smtClean="0"/>
              <a:t>i</a:t>
            </a:r>
            <a:r>
              <a:rPr lang="en-GB" dirty="0" smtClean="0"/>
              <a:t> = 0; </a:t>
            </a:r>
            <a:r>
              <a:rPr lang="en-GB" dirty="0" err="1" smtClean="0"/>
              <a:t>i</a:t>
            </a:r>
            <a:r>
              <a:rPr lang="en-GB" dirty="0" smtClean="0"/>
              <a:t> &lt; 5; </a:t>
            </a:r>
            <a:r>
              <a:rPr lang="en-GB" dirty="0" err="1" smtClean="0"/>
              <a:t>i</a:t>
            </a:r>
            <a:r>
              <a:rPr lang="en-GB" dirty="0" smtClean="0"/>
              <a:t>++){</a:t>
            </a:r>
          </a:p>
          <a:p>
            <a:r>
              <a:rPr lang="en-GB" dirty="0" smtClean="0"/>
              <a:t>        </a:t>
            </a:r>
            <a:r>
              <a:rPr lang="en-GB" dirty="0" err="1" smtClean="0"/>
              <a:t>printf</a:t>
            </a:r>
            <a:r>
              <a:rPr lang="en-GB" dirty="0" smtClean="0"/>
              <a:t>("%d ", </a:t>
            </a:r>
            <a:r>
              <a:rPr lang="en-GB" dirty="0" err="1" smtClean="0"/>
              <a:t>arr</a:t>
            </a:r>
            <a:r>
              <a:rPr lang="en-GB" dirty="0" smtClean="0"/>
              <a:t>[</a:t>
            </a:r>
            <a:r>
              <a:rPr lang="en-GB" dirty="0" err="1" smtClean="0"/>
              <a:t>i</a:t>
            </a:r>
            <a:r>
              <a:rPr lang="en-GB" dirty="0" smtClean="0"/>
              <a:t>]);</a:t>
            </a:r>
          </a:p>
          <a:p>
            <a:r>
              <a:rPr lang="en-GB" dirty="0" smtClean="0"/>
              <a:t>    }</a:t>
            </a:r>
          </a:p>
          <a:p>
            <a:r>
              <a:rPr lang="en-GB" dirty="0" smtClean="0"/>
              <a:t>    </a:t>
            </a:r>
            <a:r>
              <a:rPr lang="en-GB" dirty="0" err="1" smtClean="0"/>
              <a:t>printf</a:t>
            </a:r>
            <a:r>
              <a:rPr lang="en-GB" dirty="0" smtClean="0"/>
              <a:t>("\n"); </a:t>
            </a:r>
          </a:p>
          <a:p>
            <a:r>
              <a:rPr lang="en-GB" dirty="0" smtClean="0"/>
              <a:t>    </a:t>
            </a:r>
          </a:p>
          <a:p>
            <a:r>
              <a:rPr lang="en-GB" dirty="0" smtClean="0"/>
              <a:t>     </a:t>
            </a:r>
          </a:p>
          <a:p>
            <a:r>
              <a:rPr lang="en-GB" dirty="0" smtClean="0"/>
              <a:t>    return 0;</a:t>
            </a:r>
          </a:p>
          <a:p>
            <a:r>
              <a:rPr lang="en-GB" dirty="0" smtClean="0"/>
              <a:t>}</a:t>
            </a:r>
            <a:endParaRPr lang="en-GB" dirty="0"/>
          </a:p>
        </p:txBody>
      </p:sp>
    </p:spTree>
    <p:extLst>
      <p:ext uri="{BB962C8B-B14F-4D97-AF65-F5344CB8AC3E}">
        <p14:creationId xmlns:p14="http://schemas.microsoft.com/office/powerpoint/2010/main" val="20682492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Two Dimensional Array in C</a:t>
            </a:r>
          </a:p>
        </p:txBody>
      </p:sp>
      <p:sp>
        <p:nvSpPr>
          <p:cNvPr id="3" name="Content Placeholder 2"/>
          <p:cNvSpPr>
            <a:spLocks noGrp="1"/>
          </p:cNvSpPr>
          <p:nvPr>
            <p:ph idx="1"/>
          </p:nvPr>
        </p:nvSpPr>
        <p:spPr/>
        <p:txBody>
          <a:bodyPr/>
          <a:lstStyle/>
          <a:p>
            <a:r>
              <a:rPr lang="en-GB" dirty="0"/>
              <a:t>The two-dimensional array can be defined as an array of arrays. The 2D array is organized as matrices which can be represented as the collection of rows and columns.</a:t>
            </a:r>
          </a:p>
        </p:txBody>
      </p:sp>
    </p:spTree>
    <p:extLst>
      <p:ext uri="{BB962C8B-B14F-4D97-AF65-F5344CB8AC3E}">
        <p14:creationId xmlns:p14="http://schemas.microsoft.com/office/powerpoint/2010/main" val="13659292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 of two dimensional Array in C</a:t>
            </a:r>
          </a:p>
        </p:txBody>
      </p:sp>
      <p:sp>
        <p:nvSpPr>
          <p:cNvPr id="3" name="Content Placeholder 2"/>
          <p:cNvSpPr>
            <a:spLocks noGrp="1"/>
          </p:cNvSpPr>
          <p:nvPr>
            <p:ph idx="1"/>
          </p:nvPr>
        </p:nvSpPr>
        <p:spPr/>
        <p:txBody>
          <a:bodyPr/>
          <a:lstStyle/>
          <a:p>
            <a:r>
              <a:rPr lang="en-GB" dirty="0"/>
              <a:t>. </a:t>
            </a:r>
            <a:r>
              <a:rPr lang="en-GB" dirty="0" err="1"/>
              <a:t>data_type</a:t>
            </a:r>
            <a:r>
              <a:rPr lang="en-GB" dirty="0"/>
              <a:t> </a:t>
            </a:r>
            <a:r>
              <a:rPr lang="en-GB" dirty="0" err="1"/>
              <a:t>array_name</a:t>
            </a:r>
            <a:r>
              <a:rPr lang="en-GB" dirty="0"/>
              <a:t>[rows][columns]; </a:t>
            </a:r>
            <a:endParaRPr lang="en-GB" dirty="0" smtClean="0"/>
          </a:p>
          <a:p>
            <a:r>
              <a:rPr lang="en-GB" dirty="0" err="1"/>
              <a:t>int</a:t>
            </a:r>
            <a:r>
              <a:rPr lang="en-GB" dirty="0"/>
              <a:t> </a:t>
            </a:r>
            <a:r>
              <a:rPr lang="en-GB" dirty="0" err="1"/>
              <a:t>twodimen</a:t>
            </a:r>
            <a:r>
              <a:rPr lang="en-GB" dirty="0"/>
              <a:t>[4][3]; </a:t>
            </a:r>
            <a:endParaRPr lang="en-GB" dirty="0" smtClean="0"/>
          </a:p>
          <a:p>
            <a:endParaRPr lang="en-GB" dirty="0"/>
          </a:p>
          <a:p>
            <a:r>
              <a:rPr lang="en-GB" dirty="0" err="1"/>
              <a:t>int</a:t>
            </a:r>
            <a:r>
              <a:rPr lang="en-GB" dirty="0"/>
              <a:t> </a:t>
            </a:r>
            <a:r>
              <a:rPr lang="en-GB" dirty="0" err="1"/>
              <a:t>arr</a:t>
            </a:r>
            <a:r>
              <a:rPr lang="en-GB" dirty="0"/>
              <a:t>[4][3]={{1,2,3},{2,3,4},{3,4,5},{4,5,6}}; </a:t>
            </a:r>
          </a:p>
        </p:txBody>
      </p:sp>
    </p:spTree>
    <p:extLst>
      <p:ext uri="{BB962C8B-B14F-4D97-AF65-F5344CB8AC3E}">
        <p14:creationId xmlns:p14="http://schemas.microsoft.com/office/powerpoint/2010/main" val="1069691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Two-dimensional array example in C </a:t>
            </a:r>
          </a:p>
        </p:txBody>
      </p:sp>
      <p:sp>
        <p:nvSpPr>
          <p:cNvPr id="3" name="Content Placeholder 2"/>
          <p:cNvSpPr>
            <a:spLocks noGrp="1"/>
          </p:cNvSpPr>
          <p:nvPr>
            <p:ph idx="1"/>
          </p:nvPr>
        </p:nvSpPr>
        <p:spPr>
          <a:xfrm>
            <a:off x="543208" y="1348966"/>
            <a:ext cx="10810592" cy="4827997"/>
          </a:xfrm>
        </p:spPr>
        <p:txBody>
          <a:bodyPr>
            <a:normAutofit fontScale="92500" lnSpcReduction="20000"/>
          </a:bodyPr>
          <a:lstStyle/>
          <a:p>
            <a:r>
              <a:rPr lang="en-GB" dirty="0"/>
              <a:t>#include&lt;</a:t>
            </a:r>
            <a:r>
              <a:rPr lang="en-GB" dirty="0" err="1"/>
              <a:t>stdio.h</a:t>
            </a:r>
            <a:r>
              <a:rPr lang="en-GB" dirty="0"/>
              <a:t>&gt;</a:t>
            </a:r>
          </a:p>
          <a:p>
            <a:r>
              <a:rPr lang="en-GB" dirty="0" err="1" smtClean="0"/>
              <a:t>int</a:t>
            </a:r>
            <a:r>
              <a:rPr lang="en-GB" dirty="0" smtClean="0"/>
              <a:t> </a:t>
            </a:r>
            <a:r>
              <a:rPr lang="en-GB" dirty="0"/>
              <a:t>main(){</a:t>
            </a:r>
          </a:p>
          <a:p>
            <a:pPr marL="0" indent="0">
              <a:buNone/>
            </a:pPr>
            <a:r>
              <a:rPr lang="en-GB" dirty="0" smtClean="0"/>
              <a:t> </a:t>
            </a:r>
            <a:r>
              <a:rPr lang="en-GB" dirty="0" err="1"/>
              <a:t>int</a:t>
            </a:r>
            <a:r>
              <a:rPr lang="en-GB" dirty="0"/>
              <a:t> </a:t>
            </a:r>
            <a:r>
              <a:rPr lang="en-GB" dirty="0" err="1"/>
              <a:t>i</a:t>
            </a:r>
            <a:r>
              <a:rPr lang="en-GB" dirty="0"/>
              <a:t>=0,j=0;</a:t>
            </a:r>
          </a:p>
          <a:p>
            <a:pPr marL="0" indent="0">
              <a:buNone/>
            </a:pPr>
            <a:r>
              <a:rPr lang="en-GB" dirty="0" smtClean="0"/>
              <a:t> </a:t>
            </a:r>
            <a:r>
              <a:rPr lang="en-GB" dirty="0" err="1"/>
              <a:t>int</a:t>
            </a:r>
            <a:r>
              <a:rPr lang="en-GB" dirty="0"/>
              <a:t> </a:t>
            </a:r>
            <a:r>
              <a:rPr lang="en-GB" dirty="0" err="1"/>
              <a:t>arr</a:t>
            </a:r>
            <a:r>
              <a:rPr lang="en-GB" dirty="0"/>
              <a:t>[4][3]={{1,2,3},{2,3,4},{3,4,5},{4,5,6}};</a:t>
            </a:r>
          </a:p>
          <a:p>
            <a:pPr marL="0" indent="0">
              <a:buNone/>
            </a:pPr>
            <a:r>
              <a:rPr lang="en-GB" dirty="0" smtClean="0"/>
              <a:t>//</a:t>
            </a:r>
            <a:r>
              <a:rPr lang="en-GB" dirty="0"/>
              <a:t>traversing 2D array</a:t>
            </a:r>
          </a:p>
          <a:p>
            <a:pPr marL="0" indent="0">
              <a:buNone/>
            </a:pPr>
            <a:r>
              <a:rPr lang="en-GB" dirty="0" smtClean="0"/>
              <a:t>for(</a:t>
            </a:r>
            <a:r>
              <a:rPr lang="en-GB" dirty="0" err="1" smtClean="0"/>
              <a:t>i</a:t>
            </a:r>
            <a:r>
              <a:rPr lang="en-GB" dirty="0" smtClean="0"/>
              <a:t>=0;i&lt;4;i</a:t>
            </a:r>
            <a:r>
              <a:rPr lang="en-GB" dirty="0"/>
              <a:t>++){</a:t>
            </a:r>
          </a:p>
          <a:p>
            <a:pPr marL="0" indent="0">
              <a:buNone/>
            </a:pPr>
            <a:r>
              <a:rPr lang="en-GB" dirty="0" smtClean="0"/>
              <a:t> </a:t>
            </a:r>
            <a:r>
              <a:rPr lang="en-GB" dirty="0"/>
              <a:t>for(j=0;j&lt;3;j++){</a:t>
            </a:r>
          </a:p>
          <a:p>
            <a:r>
              <a:rPr lang="en-GB" dirty="0" smtClean="0"/>
              <a:t> </a:t>
            </a:r>
            <a:r>
              <a:rPr lang="en-GB" dirty="0" err="1"/>
              <a:t>printf</a:t>
            </a:r>
            <a:r>
              <a:rPr lang="en-GB" dirty="0"/>
              <a:t>("</a:t>
            </a:r>
            <a:r>
              <a:rPr lang="en-GB" dirty="0" err="1"/>
              <a:t>arr</a:t>
            </a:r>
            <a:r>
              <a:rPr lang="en-GB" dirty="0"/>
              <a:t>[%d] [%d] = %d \n",</a:t>
            </a:r>
            <a:r>
              <a:rPr lang="en-GB" dirty="0" err="1"/>
              <a:t>i,j,arr</a:t>
            </a:r>
            <a:r>
              <a:rPr lang="en-GB" dirty="0"/>
              <a:t>[</a:t>
            </a:r>
            <a:r>
              <a:rPr lang="en-GB" dirty="0" err="1"/>
              <a:t>i</a:t>
            </a:r>
            <a:r>
              <a:rPr lang="en-GB" dirty="0"/>
              <a:t>][j]);</a:t>
            </a:r>
          </a:p>
          <a:p>
            <a:pPr marL="0" indent="0">
              <a:buNone/>
            </a:pPr>
            <a:r>
              <a:rPr lang="en-GB" dirty="0" smtClean="0"/>
              <a:t> }</a:t>
            </a:r>
          </a:p>
          <a:p>
            <a:pPr marL="0" indent="0">
              <a:buNone/>
            </a:pPr>
            <a:r>
              <a:rPr lang="en-GB" dirty="0" smtClean="0"/>
              <a:t>}</a:t>
            </a:r>
          </a:p>
          <a:p>
            <a:pPr marL="0" indent="0">
              <a:buNone/>
            </a:pPr>
            <a:r>
              <a:rPr lang="en-GB" dirty="0" smtClean="0"/>
              <a:t>.return 0;</a:t>
            </a:r>
            <a:endParaRPr lang="en-GB" dirty="0"/>
          </a:p>
          <a:p>
            <a:pPr marL="0" indent="0">
              <a:buNone/>
            </a:pPr>
            <a:r>
              <a:rPr lang="en-GB" dirty="0" smtClean="0"/>
              <a:t>}</a:t>
            </a:r>
            <a:endParaRPr lang="en-GB" dirty="0"/>
          </a:p>
        </p:txBody>
      </p:sp>
      <p:pic>
        <p:nvPicPr>
          <p:cNvPr id="4" name="Picture 3"/>
          <p:cNvPicPr>
            <a:picLocks noChangeAspect="1"/>
          </p:cNvPicPr>
          <p:nvPr/>
        </p:nvPicPr>
        <p:blipFill>
          <a:blip r:embed="rId2"/>
          <a:stretch>
            <a:fillRect/>
          </a:stretch>
        </p:blipFill>
        <p:spPr>
          <a:xfrm>
            <a:off x="8923530" y="2271180"/>
            <a:ext cx="2925493" cy="3423450"/>
          </a:xfrm>
          <a:prstGeom prst="rect">
            <a:avLst/>
          </a:prstGeom>
        </p:spPr>
      </p:pic>
    </p:spTree>
    <p:extLst>
      <p:ext uri="{BB962C8B-B14F-4D97-AF65-F5344CB8AC3E}">
        <p14:creationId xmlns:p14="http://schemas.microsoft.com/office/powerpoint/2010/main" val="15344911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Write a C program to multiply two matrices of different order. </a:t>
            </a:r>
            <a:r>
              <a:rPr lang="en-GB" dirty="0" err="1" smtClean="0"/>
              <a:t>i</a:t>
            </a:r>
            <a:r>
              <a:rPr lang="en-GB" dirty="0"/>
              <a:t>) Write a C program to read the elements in an array and print the same in reverse order. </a:t>
            </a:r>
            <a:endParaRPr lang="en-GB" dirty="0" smtClean="0"/>
          </a:p>
          <a:p>
            <a:r>
              <a:rPr lang="en-GB" dirty="0"/>
              <a:t>Write a C function to find the sum occurrence of a digit in a number. </a:t>
            </a:r>
            <a:endParaRPr lang="en-GB" dirty="0" smtClean="0"/>
          </a:p>
        </p:txBody>
      </p:sp>
    </p:spTree>
    <p:extLst>
      <p:ext uri="{BB962C8B-B14F-4D97-AF65-F5344CB8AC3E}">
        <p14:creationId xmlns:p14="http://schemas.microsoft.com/office/powerpoint/2010/main" val="16316296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operations(sorting, searching).</a:t>
            </a:r>
            <a:endParaRPr lang="en-GB"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29369807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Searching in Arrays:</a:t>
            </a:r>
            <a:endParaRPr lang="en-GB" dirty="0"/>
          </a:p>
        </p:txBody>
      </p:sp>
      <p:sp>
        <p:nvSpPr>
          <p:cNvPr id="3" name="Content Placeholder 2"/>
          <p:cNvSpPr>
            <a:spLocks noGrp="1"/>
          </p:cNvSpPr>
          <p:nvPr>
            <p:ph idx="1"/>
          </p:nvPr>
        </p:nvSpPr>
        <p:spPr/>
        <p:txBody>
          <a:bodyPr/>
          <a:lstStyle/>
          <a:p>
            <a:r>
              <a:rPr lang="en-GB" b="1" dirty="0"/>
              <a:t>Searching involves finding a specific element within an array. </a:t>
            </a:r>
            <a:endParaRPr lang="en-GB" b="1" dirty="0" smtClean="0"/>
          </a:p>
          <a:p>
            <a:endParaRPr lang="en-GB" b="1" dirty="0" smtClean="0"/>
          </a:p>
          <a:p>
            <a:endParaRPr lang="en-GB" b="1" dirty="0"/>
          </a:p>
          <a:p>
            <a:pPr marL="0" indent="0">
              <a:buNone/>
            </a:pPr>
            <a:r>
              <a:rPr lang="en-GB" b="1" dirty="0" smtClean="0"/>
              <a:t>Linear </a:t>
            </a:r>
            <a:r>
              <a:rPr lang="en-GB" b="1" dirty="0"/>
              <a:t>Search (Sequential Search</a:t>
            </a:r>
            <a:r>
              <a:rPr lang="en-GB" b="1" dirty="0" smtClean="0"/>
              <a:t>):</a:t>
            </a:r>
          </a:p>
          <a:p>
            <a:pPr marL="0" indent="0">
              <a:buNone/>
            </a:pPr>
            <a:r>
              <a:rPr lang="en-GB" b="1" dirty="0"/>
              <a:t>Binary Search</a:t>
            </a:r>
            <a:endParaRPr lang="en-GB" dirty="0"/>
          </a:p>
        </p:txBody>
      </p:sp>
    </p:spTree>
    <p:extLst>
      <p:ext uri="{BB962C8B-B14F-4D97-AF65-F5344CB8AC3E}">
        <p14:creationId xmlns:p14="http://schemas.microsoft.com/office/powerpoint/2010/main" val="1461816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r>
              <a:rPr lang="en-GB" dirty="0"/>
              <a:t>Check each element one-by-one from start to end until you find the target. Works on unsorted arrays</a:t>
            </a:r>
            <a:r>
              <a:rPr lang="en-GB" dirty="0" smtClean="0"/>
              <a:t>.</a:t>
            </a:r>
          </a:p>
          <a:p>
            <a:r>
              <a:rPr lang="en-GB" dirty="0" smtClean="0"/>
              <a:t>Suitable </a:t>
            </a:r>
            <a:r>
              <a:rPr lang="en-GB" dirty="0"/>
              <a:t>for unsorted arrays.</a:t>
            </a:r>
          </a:p>
          <a:p>
            <a:r>
              <a:rPr lang="en-GB" dirty="0"/>
              <a:t>Time complexity: O(n), where 'n' is the number of elements</a:t>
            </a:r>
            <a:r>
              <a:rPr lang="en-GB" dirty="0" smtClean="0"/>
              <a:t>.</a:t>
            </a:r>
          </a:p>
          <a:p>
            <a:pPr marL="0" indent="0">
              <a:buNone/>
            </a:pPr>
            <a:r>
              <a:rPr lang="pt-BR" dirty="0"/>
              <a:t>O(1), Worst O(n), Average O(n).</a:t>
            </a:r>
            <a:endParaRPr lang="en-GB" dirty="0"/>
          </a:p>
        </p:txBody>
      </p:sp>
    </p:spTree>
    <p:extLst>
      <p:ext uri="{BB962C8B-B14F-4D97-AF65-F5344CB8AC3E}">
        <p14:creationId xmlns:p14="http://schemas.microsoft.com/office/powerpoint/2010/main" val="323651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Write a C program to read N numbers into an array and perform Linear search. </a:t>
            </a:r>
          </a:p>
        </p:txBody>
      </p:sp>
    </p:spTree>
    <p:extLst>
      <p:ext uri="{BB962C8B-B14F-4D97-AF65-F5344CB8AC3E}">
        <p14:creationId xmlns:p14="http://schemas.microsoft.com/office/powerpoint/2010/main" val="1708425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3331" y="470780"/>
            <a:ext cx="10620469" cy="5706183"/>
          </a:xfrm>
        </p:spPr>
        <p:txBody>
          <a:bodyPr>
            <a:normAutofit fontScale="62500" lnSpcReduction="20000"/>
          </a:bodyPr>
          <a:lstStyle/>
          <a:p>
            <a:r>
              <a:rPr lang="en-GB" dirty="0"/>
              <a:t>#include &lt;</a:t>
            </a:r>
            <a:r>
              <a:rPr lang="en-GB" dirty="0" err="1"/>
              <a:t>stdio.h</a:t>
            </a:r>
            <a:r>
              <a:rPr lang="en-GB" dirty="0" smtClean="0"/>
              <a:t>&gt;</a:t>
            </a:r>
            <a:endParaRPr lang="en-GB" dirty="0"/>
          </a:p>
          <a:p>
            <a:r>
              <a:rPr lang="en-GB" dirty="0" err="1"/>
              <a:t>int</a:t>
            </a:r>
            <a:r>
              <a:rPr lang="en-GB" dirty="0"/>
              <a:t> main() {</a:t>
            </a:r>
          </a:p>
          <a:p>
            <a:r>
              <a:rPr lang="en-GB" dirty="0"/>
              <a:t>    </a:t>
            </a:r>
            <a:r>
              <a:rPr lang="en-GB" dirty="0" err="1"/>
              <a:t>int</a:t>
            </a:r>
            <a:r>
              <a:rPr lang="en-GB" dirty="0"/>
              <a:t> A[5] = {7, 3, 9, 2, 5};</a:t>
            </a:r>
          </a:p>
          <a:p>
            <a:r>
              <a:rPr lang="en-GB" dirty="0"/>
              <a:t>    </a:t>
            </a:r>
            <a:r>
              <a:rPr lang="en-GB" dirty="0" err="1"/>
              <a:t>int</a:t>
            </a:r>
            <a:r>
              <a:rPr lang="en-GB" dirty="0"/>
              <a:t> key, </a:t>
            </a:r>
            <a:r>
              <a:rPr lang="en-GB" dirty="0" err="1"/>
              <a:t>i</a:t>
            </a:r>
            <a:r>
              <a:rPr lang="en-GB" dirty="0"/>
              <a:t>, found = 0</a:t>
            </a:r>
            <a:r>
              <a:rPr lang="en-GB" dirty="0" smtClean="0"/>
              <a:t>;</a:t>
            </a:r>
            <a:endParaRPr lang="en-GB" dirty="0"/>
          </a:p>
          <a:p>
            <a:r>
              <a:rPr lang="en-GB" dirty="0"/>
              <a:t>    </a:t>
            </a:r>
            <a:r>
              <a:rPr lang="en-GB" dirty="0" err="1"/>
              <a:t>printf</a:t>
            </a:r>
            <a:r>
              <a:rPr lang="en-GB" dirty="0"/>
              <a:t>("Enter element to search: ");</a:t>
            </a:r>
          </a:p>
          <a:p>
            <a:r>
              <a:rPr lang="en-GB" dirty="0"/>
              <a:t>    </a:t>
            </a:r>
            <a:r>
              <a:rPr lang="en-GB" dirty="0" err="1"/>
              <a:t>scanf</a:t>
            </a:r>
            <a:r>
              <a:rPr lang="en-GB" dirty="0"/>
              <a:t>("%d", &amp;key</a:t>
            </a:r>
            <a:r>
              <a:rPr lang="en-GB" dirty="0" smtClean="0"/>
              <a:t>);</a:t>
            </a:r>
            <a:endParaRPr lang="en-GB" dirty="0"/>
          </a:p>
          <a:p>
            <a:r>
              <a:rPr lang="en-GB" dirty="0"/>
              <a:t>    for (</a:t>
            </a:r>
            <a:r>
              <a:rPr lang="en-GB" dirty="0" err="1"/>
              <a:t>i</a:t>
            </a:r>
            <a:r>
              <a:rPr lang="en-GB" dirty="0"/>
              <a:t> = 0; </a:t>
            </a:r>
            <a:r>
              <a:rPr lang="en-GB" dirty="0" err="1"/>
              <a:t>i</a:t>
            </a:r>
            <a:r>
              <a:rPr lang="en-GB" dirty="0"/>
              <a:t> &lt; 5; </a:t>
            </a:r>
            <a:r>
              <a:rPr lang="en-GB" dirty="0" err="1"/>
              <a:t>i</a:t>
            </a:r>
            <a:r>
              <a:rPr lang="en-GB" dirty="0"/>
              <a:t>++) {</a:t>
            </a:r>
          </a:p>
          <a:p>
            <a:r>
              <a:rPr lang="en-GB" dirty="0"/>
              <a:t>        if (A[</a:t>
            </a:r>
            <a:r>
              <a:rPr lang="en-GB" dirty="0" err="1"/>
              <a:t>i</a:t>
            </a:r>
            <a:r>
              <a:rPr lang="en-GB" dirty="0"/>
              <a:t>] == key) {          // check if element matches</a:t>
            </a:r>
          </a:p>
          <a:p>
            <a:r>
              <a:rPr lang="en-GB" dirty="0"/>
              <a:t>            </a:t>
            </a:r>
            <a:r>
              <a:rPr lang="en-GB" dirty="0" err="1"/>
              <a:t>printf</a:t>
            </a:r>
            <a:r>
              <a:rPr lang="en-GB" dirty="0"/>
              <a:t>("Element %d found at position %d\n", key, </a:t>
            </a:r>
            <a:r>
              <a:rPr lang="en-GB" dirty="0" err="1"/>
              <a:t>i</a:t>
            </a:r>
            <a:r>
              <a:rPr lang="en-GB" dirty="0"/>
              <a:t> + 1);</a:t>
            </a:r>
          </a:p>
          <a:p>
            <a:r>
              <a:rPr lang="en-GB" dirty="0"/>
              <a:t>            found = 1;</a:t>
            </a:r>
          </a:p>
          <a:p>
            <a:r>
              <a:rPr lang="en-GB" dirty="0"/>
              <a:t>            break;                  // stop when found</a:t>
            </a:r>
          </a:p>
          <a:p>
            <a:r>
              <a:rPr lang="en-GB" dirty="0"/>
              <a:t>        }</a:t>
            </a:r>
          </a:p>
          <a:p>
            <a:r>
              <a:rPr lang="en-GB" dirty="0"/>
              <a:t>    </a:t>
            </a:r>
            <a:r>
              <a:rPr lang="en-GB" dirty="0" smtClean="0"/>
              <a:t>}</a:t>
            </a:r>
            <a:endParaRPr lang="en-GB" dirty="0"/>
          </a:p>
          <a:p>
            <a:r>
              <a:rPr lang="en-GB" dirty="0"/>
              <a:t>    if (!found)</a:t>
            </a:r>
          </a:p>
          <a:p>
            <a:r>
              <a:rPr lang="en-GB" dirty="0"/>
              <a:t>        </a:t>
            </a:r>
            <a:r>
              <a:rPr lang="en-GB" dirty="0" err="1"/>
              <a:t>printf</a:t>
            </a:r>
            <a:r>
              <a:rPr lang="en-GB" dirty="0"/>
              <a:t>("Element %d not found in the array\n", key</a:t>
            </a:r>
            <a:r>
              <a:rPr lang="en-GB" dirty="0" smtClean="0"/>
              <a:t>);</a:t>
            </a:r>
            <a:endParaRPr lang="en-GB" dirty="0"/>
          </a:p>
          <a:p>
            <a:r>
              <a:rPr lang="en-GB" dirty="0"/>
              <a:t>    return 0;</a:t>
            </a:r>
          </a:p>
          <a:p>
            <a:r>
              <a:rPr lang="en-GB" dirty="0"/>
              <a:t>}</a:t>
            </a:r>
          </a:p>
        </p:txBody>
      </p:sp>
      <p:pic>
        <p:nvPicPr>
          <p:cNvPr id="4" name="Picture 3"/>
          <p:cNvPicPr>
            <a:picLocks noChangeAspect="1"/>
          </p:cNvPicPr>
          <p:nvPr/>
        </p:nvPicPr>
        <p:blipFill>
          <a:blip r:embed="rId2"/>
          <a:stretch>
            <a:fillRect/>
          </a:stretch>
        </p:blipFill>
        <p:spPr>
          <a:xfrm>
            <a:off x="8522374" y="826483"/>
            <a:ext cx="2408129" cy="533446"/>
          </a:xfrm>
          <a:prstGeom prst="rect">
            <a:avLst/>
          </a:prstGeom>
        </p:spPr>
      </p:pic>
      <p:pic>
        <p:nvPicPr>
          <p:cNvPr id="5" name="Picture 4"/>
          <p:cNvPicPr>
            <a:picLocks noChangeAspect="1"/>
          </p:cNvPicPr>
          <p:nvPr/>
        </p:nvPicPr>
        <p:blipFill>
          <a:blip r:embed="rId3"/>
          <a:stretch>
            <a:fillRect/>
          </a:stretch>
        </p:blipFill>
        <p:spPr>
          <a:xfrm>
            <a:off x="8411874" y="3265482"/>
            <a:ext cx="2629128" cy="502964"/>
          </a:xfrm>
          <a:prstGeom prst="rect">
            <a:avLst/>
          </a:prstGeom>
        </p:spPr>
      </p:pic>
    </p:spTree>
    <p:extLst>
      <p:ext uri="{BB962C8B-B14F-4D97-AF65-F5344CB8AC3E}">
        <p14:creationId xmlns:p14="http://schemas.microsoft.com/office/powerpoint/2010/main" val="26844764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Binary Search</a:t>
            </a:r>
          </a:p>
        </p:txBody>
      </p:sp>
      <p:sp>
        <p:nvSpPr>
          <p:cNvPr id="3" name="Content Placeholder 2"/>
          <p:cNvSpPr>
            <a:spLocks noGrp="1"/>
          </p:cNvSpPr>
          <p:nvPr>
            <p:ph idx="1"/>
          </p:nvPr>
        </p:nvSpPr>
        <p:spPr/>
        <p:txBody>
          <a:bodyPr/>
          <a:lstStyle/>
          <a:p>
            <a:r>
              <a:rPr lang="en-GB" dirty="0"/>
              <a:t>Binary Search is a fast searching technique used </a:t>
            </a:r>
            <a:r>
              <a:rPr lang="en-GB" b="1" dirty="0"/>
              <a:t>only on sorted arrays</a:t>
            </a:r>
            <a:r>
              <a:rPr lang="en-GB" dirty="0"/>
              <a:t>.</a:t>
            </a:r>
            <a:br>
              <a:rPr lang="en-GB" dirty="0"/>
            </a:br>
            <a:r>
              <a:rPr lang="en-GB" dirty="0"/>
              <a:t>It divides the array into halves repeatedly to find the required element</a:t>
            </a:r>
            <a:r>
              <a:rPr lang="en-GB" dirty="0" smtClean="0"/>
              <a:t>.</a:t>
            </a:r>
            <a:endParaRPr lang="en-GB" dirty="0"/>
          </a:p>
          <a:p>
            <a:r>
              <a:rPr lang="en-GB" dirty="0"/>
              <a:t>Repeatedly divides the search interval in half. It compares the target value with the middle element of the array. If they match, the search is complete. If the target is smaller, the search continues in the lower half; otherwise, it continues in the upper half.</a:t>
            </a:r>
          </a:p>
          <a:p>
            <a:endParaRPr lang="en-GB" dirty="0"/>
          </a:p>
        </p:txBody>
      </p:sp>
    </p:spTree>
    <p:extLst>
      <p:ext uri="{BB962C8B-B14F-4D97-AF65-F5344CB8AC3E}">
        <p14:creationId xmlns:p14="http://schemas.microsoft.com/office/powerpoint/2010/main" val="5206042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3497" y="280657"/>
            <a:ext cx="11100303" cy="6427961"/>
          </a:xfrm>
        </p:spPr>
        <p:txBody>
          <a:bodyPr>
            <a:normAutofit fontScale="55000" lnSpcReduction="20000"/>
          </a:bodyPr>
          <a:lstStyle/>
          <a:p>
            <a:r>
              <a:rPr lang="en-GB" dirty="0"/>
              <a:t>#include &lt;</a:t>
            </a:r>
            <a:r>
              <a:rPr lang="en-GB" dirty="0" err="1"/>
              <a:t>stdio.h</a:t>
            </a:r>
            <a:r>
              <a:rPr lang="en-GB" dirty="0" smtClean="0"/>
              <a:t>&gt;</a:t>
            </a:r>
            <a:endParaRPr lang="en-GB" dirty="0"/>
          </a:p>
          <a:p>
            <a:r>
              <a:rPr lang="en-GB" dirty="0" err="1"/>
              <a:t>int</a:t>
            </a:r>
            <a:r>
              <a:rPr lang="en-GB" dirty="0"/>
              <a:t> main() {</a:t>
            </a:r>
          </a:p>
          <a:p>
            <a:r>
              <a:rPr lang="en-GB" dirty="0"/>
              <a:t>    </a:t>
            </a:r>
            <a:r>
              <a:rPr lang="en-GB" dirty="0" err="1"/>
              <a:t>int</a:t>
            </a:r>
            <a:r>
              <a:rPr lang="en-GB" dirty="0"/>
              <a:t> A[6] = {2, 4, 6, 8, 10, 12}; // sorted array</a:t>
            </a:r>
          </a:p>
          <a:p>
            <a:r>
              <a:rPr lang="en-GB" dirty="0"/>
              <a:t>    </a:t>
            </a:r>
            <a:r>
              <a:rPr lang="en-GB" dirty="0" err="1"/>
              <a:t>int</a:t>
            </a:r>
            <a:r>
              <a:rPr lang="en-GB" dirty="0"/>
              <a:t> key, low = 0, high = 5, mid, found = 0</a:t>
            </a:r>
            <a:r>
              <a:rPr lang="en-GB" dirty="0" smtClean="0"/>
              <a:t>;</a:t>
            </a:r>
            <a:endParaRPr lang="en-GB" dirty="0"/>
          </a:p>
          <a:p>
            <a:r>
              <a:rPr lang="en-GB" dirty="0"/>
              <a:t>    </a:t>
            </a:r>
            <a:r>
              <a:rPr lang="en-GB" dirty="0" err="1"/>
              <a:t>printf</a:t>
            </a:r>
            <a:r>
              <a:rPr lang="en-GB" dirty="0"/>
              <a:t>("Enter element to search: ");</a:t>
            </a:r>
          </a:p>
          <a:p>
            <a:r>
              <a:rPr lang="en-GB" dirty="0"/>
              <a:t>    </a:t>
            </a:r>
            <a:r>
              <a:rPr lang="en-GB" dirty="0" err="1"/>
              <a:t>scanf</a:t>
            </a:r>
            <a:r>
              <a:rPr lang="en-GB" dirty="0"/>
              <a:t>("%d", &amp;key</a:t>
            </a:r>
            <a:r>
              <a:rPr lang="en-GB" dirty="0" smtClean="0"/>
              <a:t>);</a:t>
            </a:r>
            <a:endParaRPr lang="en-GB" dirty="0"/>
          </a:p>
          <a:p>
            <a:r>
              <a:rPr lang="en-GB" dirty="0"/>
              <a:t>    while (low &lt;= high) {</a:t>
            </a:r>
          </a:p>
          <a:p>
            <a:r>
              <a:rPr lang="en-GB" dirty="0"/>
              <a:t>        mid = (low + high) / 2</a:t>
            </a:r>
            <a:r>
              <a:rPr lang="en-GB" dirty="0" smtClean="0"/>
              <a:t>;</a:t>
            </a:r>
            <a:endParaRPr lang="en-GB" dirty="0"/>
          </a:p>
          <a:p>
            <a:r>
              <a:rPr lang="en-GB" dirty="0"/>
              <a:t>        if (A[mid] == key) {</a:t>
            </a:r>
          </a:p>
          <a:p>
            <a:r>
              <a:rPr lang="en-GB" dirty="0"/>
              <a:t>            </a:t>
            </a:r>
            <a:r>
              <a:rPr lang="en-GB" dirty="0" err="1"/>
              <a:t>printf</a:t>
            </a:r>
            <a:r>
              <a:rPr lang="en-GB" dirty="0"/>
              <a:t>("Element %d found at position %d\n", key, mid + 1);</a:t>
            </a:r>
          </a:p>
          <a:p>
            <a:r>
              <a:rPr lang="en-GB" dirty="0"/>
              <a:t>            found = 1;</a:t>
            </a:r>
          </a:p>
          <a:p>
            <a:r>
              <a:rPr lang="en-GB" dirty="0"/>
              <a:t>            break;</a:t>
            </a:r>
          </a:p>
          <a:p>
            <a:r>
              <a:rPr lang="en-GB" dirty="0"/>
              <a:t>        }</a:t>
            </a:r>
          </a:p>
          <a:p>
            <a:r>
              <a:rPr lang="en-GB" dirty="0"/>
              <a:t>        else if (A[mid] &lt; key)</a:t>
            </a:r>
          </a:p>
          <a:p>
            <a:r>
              <a:rPr lang="en-GB" dirty="0"/>
              <a:t>            low = mid + 1;  // search right half</a:t>
            </a:r>
          </a:p>
          <a:p>
            <a:r>
              <a:rPr lang="en-GB" dirty="0"/>
              <a:t>        else</a:t>
            </a:r>
          </a:p>
          <a:p>
            <a:r>
              <a:rPr lang="en-GB" dirty="0"/>
              <a:t>            high = mid - 1; // search left half</a:t>
            </a:r>
          </a:p>
          <a:p>
            <a:r>
              <a:rPr lang="en-GB" dirty="0"/>
              <a:t>    </a:t>
            </a:r>
            <a:r>
              <a:rPr lang="en-GB" dirty="0" smtClean="0"/>
              <a:t>}</a:t>
            </a:r>
            <a:endParaRPr lang="en-GB" dirty="0"/>
          </a:p>
          <a:p>
            <a:r>
              <a:rPr lang="en-GB" dirty="0"/>
              <a:t>    if (!found)</a:t>
            </a:r>
          </a:p>
          <a:p>
            <a:r>
              <a:rPr lang="en-GB" dirty="0"/>
              <a:t>        </a:t>
            </a:r>
            <a:r>
              <a:rPr lang="en-GB" dirty="0" err="1"/>
              <a:t>printf</a:t>
            </a:r>
            <a:r>
              <a:rPr lang="en-GB" dirty="0"/>
              <a:t>("Element %d not found in the array\n", key</a:t>
            </a:r>
            <a:r>
              <a:rPr lang="en-GB" dirty="0" smtClean="0"/>
              <a:t>);</a:t>
            </a:r>
            <a:endParaRPr lang="en-GB" dirty="0"/>
          </a:p>
          <a:p>
            <a:r>
              <a:rPr lang="en-GB" dirty="0"/>
              <a:t>    return 0;</a:t>
            </a:r>
          </a:p>
          <a:p>
            <a:r>
              <a:rPr lang="en-GB" dirty="0"/>
              <a:t>}</a:t>
            </a:r>
          </a:p>
        </p:txBody>
      </p:sp>
      <p:pic>
        <p:nvPicPr>
          <p:cNvPr id="4" name="Picture 3"/>
          <p:cNvPicPr>
            <a:picLocks noChangeAspect="1"/>
          </p:cNvPicPr>
          <p:nvPr/>
        </p:nvPicPr>
        <p:blipFill>
          <a:blip r:embed="rId2"/>
          <a:stretch>
            <a:fillRect/>
          </a:stretch>
        </p:blipFill>
        <p:spPr>
          <a:xfrm>
            <a:off x="6222511" y="1451660"/>
            <a:ext cx="5486875" cy="586791"/>
          </a:xfrm>
          <a:prstGeom prst="rect">
            <a:avLst/>
          </a:prstGeom>
        </p:spPr>
      </p:pic>
    </p:spTree>
    <p:extLst>
      <p:ext uri="{BB962C8B-B14F-4D97-AF65-F5344CB8AC3E}">
        <p14:creationId xmlns:p14="http://schemas.microsoft.com/office/powerpoint/2010/main" val="5940229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Sorting</a:t>
            </a:r>
            <a:endParaRPr lang="en-GB" b="1" dirty="0"/>
          </a:p>
        </p:txBody>
      </p:sp>
      <p:sp>
        <p:nvSpPr>
          <p:cNvPr id="3" name="Content Placeholder 2"/>
          <p:cNvSpPr>
            <a:spLocks noGrp="1"/>
          </p:cNvSpPr>
          <p:nvPr>
            <p:ph idx="1"/>
          </p:nvPr>
        </p:nvSpPr>
        <p:spPr/>
        <p:txBody>
          <a:bodyPr/>
          <a:lstStyle/>
          <a:p>
            <a:r>
              <a:rPr lang="en-GB" dirty="0"/>
              <a:t>A sorting algorithm is used to arrange elements of an array/list in a specific order. For example,</a:t>
            </a:r>
          </a:p>
        </p:txBody>
      </p:sp>
      <p:pic>
        <p:nvPicPr>
          <p:cNvPr id="4" name="Picture 3"/>
          <p:cNvPicPr>
            <a:picLocks noChangeAspect="1"/>
          </p:cNvPicPr>
          <p:nvPr/>
        </p:nvPicPr>
        <p:blipFill>
          <a:blip r:embed="rId2"/>
          <a:stretch>
            <a:fillRect/>
          </a:stretch>
        </p:blipFill>
        <p:spPr>
          <a:xfrm>
            <a:off x="3651106" y="3128943"/>
            <a:ext cx="4473328" cy="2827265"/>
          </a:xfrm>
          <a:prstGeom prst="rect">
            <a:avLst/>
          </a:prstGeom>
        </p:spPr>
      </p:pic>
    </p:spTree>
    <p:extLst>
      <p:ext uri="{BB962C8B-B14F-4D97-AF65-F5344CB8AC3E}">
        <p14:creationId xmlns:p14="http://schemas.microsoft.com/office/powerpoint/2010/main" val="924465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4178"/>
            <a:ext cx="10515600" cy="1325563"/>
          </a:xfrm>
        </p:spPr>
        <p:txBody>
          <a:bodyPr/>
          <a:lstStyle/>
          <a:p>
            <a:r>
              <a:rPr lang="en-GB" b="1" dirty="0" smtClean="0"/>
              <a:t>1.Bubble </a:t>
            </a:r>
            <a:r>
              <a:rPr lang="en-GB" b="1" dirty="0"/>
              <a:t>Sort</a:t>
            </a:r>
          </a:p>
        </p:txBody>
      </p:sp>
      <p:sp>
        <p:nvSpPr>
          <p:cNvPr id="3" name="Content Placeholder 2"/>
          <p:cNvSpPr>
            <a:spLocks noGrp="1"/>
          </p:cNvSpPr>
          <p:nvPr>
            <p:ph idx="1"/>
          </p:nvPr>
        </p:nvSpPr>
        <p:spPr/>
        <p:txBody>
          <a:bodyPr/>
          <a:lstStyle/>
          <a:p>
            <a:r>
              <a:rPr lang="en-GB" dirty="0"/>
              <a:t>It is a simple sorting algorithm that repeatedly swaps adjacent elements if they are in the wrong order. It performs multiple passes through the array, and in each pass, the largest unsorted element moves to its correct position at the end.</a:t>
            </a:r>
          </a:p>
        </p:txBody>
      </p:sp>
    </p:spTree>
    <p:extLst>
      <p:ext uri="{BB962C8B-B14F-4D97-AF65-F5344CB8AC3E}">
        <p14:creationId xmlns:p14="http://schemas.microsoft.com/office/powerpoint/2010/main" val="2257567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1792194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Working of Bubble Sort</a:t>
            </a:r>
          </a:p>
        </p:txBody>
      </p:sp>
      <p:sp>
        <p:nvSpPr>
          <p:cNvPr id="3" name="Content Placeholder 2"/>
          <p:cNvSpPr>
            <a:spLocks noGrp="1"/>
          </p:cNvSpPr>
          <p:nvPr>
            <p:ph idx="1"/>
          </p:nvPr>
        </p:nvSpPr>
        <p:spPr/>
        <p:txBody>
          <a:bodyPr/>
          <a:lstStyle/>
          <a:p>
            <a:r>
              <a:rPr lang="en-GB" b="1" dirty="0"/>
              <a:t>1. First Iteration (Compare and Swap)</a:t>
            </a:r>
            <a:endParaRPr lang="en-GB" dirty="0"/>
          </a:p>
          <a:p>
            <a:r>
              <a:rPr lang="en-GB" dirty="0"/>
              <a:t>Starting from the first index, compare the first and the second elements.</a:t>
            </a:r>
          </a:p>
          <a:p>
            <a:r>
              <a:rPr lang="en-GB" dirty="0"/>
              <a:t>If the first element is greater than the second element, they are swapped.</a:t>
            </a:r>
          </a:p>
          <a:p>
            <a:r>
              <a:rPr lang="en-GB" dirty="0"/>
              <a:t>Now, compare the second and the third elements. Swap them if they are not in order.</a:t>
            </a:r>
          </a:p>
          <a:p>
            <a:r>
              <a:rPr lang="en-GB" dirty="0"/>
              <a:t>The above process goes on until the last element</a:t>
            </a:r>
          </a:p>
        </p:txBody>
      </p:sp>
    </p:spTree>
    <p:extLst>
      <p:ext uri="{BB962C8B-B14F-4D97-AF65-F5344CB8AC3E}">
        <p14:creationId xmlns:p14="http://schemas.microsoft.com/office/powerpoint/2010/main" val="3363005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2. Remaining Iteration</a:t>
            </a:r>
            <a:r>
              <a:rPr lang="en-GB" dirty="0"/>
              <a:t/>
            </a:r>
            <a:br>
              <a:rPr lang="en-GB" dirty="0"/>
            </a:br>
            <a:endParaRPr lang="en-GB" dirty="0"/>
          </a:p>
        </p:txBody>
      </p:sp>
      <p:sp>
        <p:nvSpPr>
          <p:cNvPr id="3" name="Content Placeholder 2"/>
          <p:cNvSpPr>
            <a:spLocks noGrp="1"/>
          </p:cNvSpPr>
          <p:nvPr>
            <p:ph idx="1"/>
          </p:nvPr>
        </p:nvSpPr>
        <p:spPr/>
        <p:txBody>
          <a:bodyPr/>
          <a:lstStyle/>
          <a:p>
            <a:r>
              <a:rPr lang="en-GB" dirty="0" smtClean="0"/>
              <a:t>The </a:t>
            </a:r>
            <a:r>
              <a:rPr lang="en-GB" dirty="0"/>
              <a:t>same process goes on for the remaining iterations.</a:t>
            </a:r>
          </a:p>
          <a:p>
            <a:r>
              <a:rPr lang="en-GB" dirty="0"/>
              <a:t>After each iteration, the largest element among the unsorted elements is placed at the end</a:t>
            </a:r>
            <a:r>
              <a:rPr lang="en-GB" dirty="0" smtClean="0"/>
              <a:t>.</a:t>
            </a:r>
          </a:p>
          <a:p>
            <a:r>
              <a:rPr lang="en-GB" dirty="0"/>
              <a:t>In each iteration, the comparison takes place up to the last unsorted element.</a:t>
            </a:r>
          </a:p>
          <a:p>
            <a:r>
              <a:rPr lang="en-GB" dirty="0"/>
              <a:t>The array is sorted when all the unsorted elements are placed at their correct positions.</a:t>
            </a:r>
          </a:p>
          <a:p>
            <a:endParaRPr lang="en-GB" dirty="0"/>
          </a:p>
        </p:txBody>
      </p:sp>
    </p:spTree>
    <p:extLst>
      <p:ext uri="{BB962C8B-B14F-4D97-AF65-F5344CB8AC3E}">
        <p14:creationId xmlns:p14="http://schemas.microsoft.com/office/powerpoint/2010/main" val="3808130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4335949" y="1825625"/>
            <a:ext cx="3520102" cy="4351338"/>
          </a:xfrm>
          <a:prstGeom prst="rect">
            <a:avLst/>
          </a:prstGeom>
        </p:spPr>
      </p:pic>
    </p:spTree>
    <p:extLst>
      <p:ext uri="{BB962C8B-B14F-4D97-AF65-F5344CB8AC3E}">
        <p14:creationId xmlns:p14="http://schemas.microsoft.com/office/powerpoint/2010/main" val="2774687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25000" lnSpcReduction="20000"/>
          </a:bodyPr>
          <a:lstStyle/>
          <a:p>
            <a:r>
              <a:rPr lang="en-GB" dirty="0"/>
              <a:t>#include &lt;</a:t>
            </a:r>
            <a:r>
              <a:rPr lang="en-GB" dirty="0" err="1"/>
              <a:t>stdio.h</a:t>
            </a:r>
            <a:r>
              <a:rPr lang="en-GB" dirty="0"/>
              <a:t>&gt;</a:t>
            </a:r>
          </a:p>
          <a:p>
            <a:endParaRPr lang="en-GB" dirty="0"/>
          </a:p>
          <a:p>
            <a:r>
              <a:rPr lang="en-GB" dirty="0" err="1"/>
              <a:t>int</a:t>
            </a:r>
            <a:r>
              <a:rPr lang="en-GB" dirty="0"/>
              <a:t> main() {</a:t>
            </a:r>
          </a:p>
          <a:p>
            <a:r>
              <a:rPr lang="en-GB" dirty="0"/>
              <a:t>    </a:t>
            </a:r>
            <a:r>
              <a:rPr lang="en-GB" dirty="0" err="1"/>
              <a:t>int</a:t>
            </a:r>
            <a:r>
              <a:rPr lang="en-GB" dirty="0"/>
              <a:t> a[5] = {5, 3, 8, 1, 2};</a:t>
            </a:r>
          </a:p>
          <a:p>
            <a:r>
              <a:rPr lang="en-GB" dirty="0"/>
              <a:t>    </a:t>
            </a:r>
            <a:r>
              <a:rPr lang="en-GB" dirty="0" err="1"/>
              <a:t>int</a:t>
            </a:r>
            <a:r>
              <a:rPr lang="en-GB" dirty="0"/>
              <a:t> </a:t>
            </a:r>
            <a:r>
              <a:rPr lang="en-GB" dirty="0" err="1"/>
              <a:t>i</a:t>
            </a:r>
            <a:r>
              <a:rPr lang="en-GB" dirty="0"/>
              <a:t>, j, temp;</a:t>
            </a:r>
          </a:p>
          <a:p>
            <a:endParaRPr lang="en-GB" dirty="0"/>
          </a:p>
          <a:p>
            <a:r>
              <a:rPr lang="en-GB" dirty="0"/>
              <a:t>    for (</a:t>
            </a:r>
            <a:r>
              <a:rPr lang="en-GB" dirty="0" err="1"/>
              <a:t>i</a:t>
            </a:r>
            <a:r>
              <a:rPr lang="en-GB" dirty="0"/>
              <a:t> = 0; </a:t>
            </a:r>
            <a:r>
              <a:rPr lang="en-GB" dirty="0" err="1"/>
              <a:t>i</a:t>
            </a:r>
            <a:r>
              <a:rPr lang="en-GB" dirty="0"/>
              <a:t> &lt; 5 - 1; </a:t>
            </a:r>
            <a:r>
              <a:rPr lang="en-GB" dirty="0" err="1"/>
              <a:t>i</a:t>
            </a:r>
            <a:r>
              <a:rPr lang="en-GB" dirty="0"/>
              <a:t>++) {</a:t>
            </a:r>
          </a:p>
          <a:p>
            <a:r>
              <a:rPr lang="en-GB" dirty="0"/>
              <a:t>        for (j = 0; j &lt; 5 - </a:t>
            </a:r>
            <a:r>
              <a:rPr lang="en-GB" dirty="0" err="1"/>
              <a:t>i</a:t>
            </a:r>
            <a:r>
              <a:rPr lang="en-GB" dirty="0"/>
              <a:t> - 1; j++) {</a:t>
            </a:r>
          </a:p>
          <a:p>
            <a:r>
              <a:rPr lang="en-GB" dirty="0"/>
              <a:t>            if (a[j] &gt; a[j + 1]) {   // swap</a:t>
            </a:r>
          </a:p>
          <a:p>
            <a:r>
              <a:rPr lang="en-GB" dirty="0"/>
              <a:t>                temp = a[j];</a:t>
            </a:r>
          </a:p>
          <a:p>
            <a:r>
              <a:rPr lang="en-GB" dirty="0"/>
              <a:t>                a[j] = a[j + 1];</a:t>
            </a:r>
          </a:p>
          <a:p>
            <a:r>
              <a:rPr lang="en-GB" dirty="0"/>
              <a:t>                a[j + 1] = temp;</a:t>
            </a:r>
          </a:p>
          <a:p>
            <a:r>
              <a:rPr lang="en-GB" dirty="0"/>
              <a:t>            }</a:t>
            </a:r>
          </a:p>
          <a:p>
            <a:r>
              <a:rPr lang="en-GB" dirty="0"/>
              <a:t>        }</a:t>
            </a:r>
          </a:p>
          <a:p>
            <a:r>
              <a:rPr lang="en-GB" dirty="0"/>
              <a:t>    }</a:t>
            </a:r>
          </a:p>
          <a:p>
            <a:endParaRPr lang="en-GB" dirty="0"/>
          </a:p>
          <a:p>
            <a:r>
              <a:rPr lang="en-GB" dirty="0"/>
              <a:t>    </a:t>
            </a:r>
            <a:r>
              <a:rPr lang="en-GB" dirty="0" err="1"/>
              <a:t>printf</a:t>
            </a:r>
            <a:r>
              <a:rPr lang="en-GB" dirty="0"/>
              <a:t>("Sorted array: ");</a:t>
            </a:r>
          </a:p>
          <a:p>
            <a:r>
              <a:rPr lang="en-GB" dirty="0"/>
              <a:t>    for (</a:t>
            </a:r>
            <a:r>
              <a:rPr lang="en-GB" dirty="0" err="1"/>
              <a:t>i</a:t>
            </a:r>
            <a:r>
              <a:rPr lang="en-GB" dirty="0"/>
              <a:t> = 0; </a:t>
            </a:r>
            <a:r>
              <a:rPr lang="en-GB" dirty="0" err="1"/>
              <a:t>i</a:t>
            </a:r>
            <a:r>
              <a:rPr lang="en-GB" dirty="0"/>
              <a:t> &lt; 5; </a:t>
            </a:r>
            <a:r>
              <a:rPr lang="en-GB" dirty="0" err="1"/>
              <a:t>i</a:t>
            </a:r>
            <a:r>
              <a:rPr lang="en-GB" dirty="0"/>
              <a:t>++)</a:t>
            </a:r>
          </a:p>
          <a:p>
            <a:r>
              <a:rPr lang="en-GB" dirty="0"/>
              <a:t>        </a:t>
            </a:r>
            <a:r>
              <a:rPr lang="en-GB" dirty="0" err="1"/>
              <a:t>printf</a:t>
            </a:r>
            <a:r>
              <a:rPr lang="en-GB" dirty="0"/>
              <a:t>("%d ", a[</a:t>
            </a:r>
            <a:r>
              <a:rPr lang="en-GB" dirty="0" err="1"/>
              <a:t>i</a:t>
            </a:r>
            <a:r>
              <a:rPr lang="en-GB" dirty="0"/>
              <a:t>]);</a:t>
            </a:r>
          </a:p>
          <a:p>
            <a:r>
              <a:rPr lang="en-GB" dirty="0"/>
              <a:t>    return 0;</a:t>
            </a:r>
          </a:p>
          <a:p>
            <a:r>
              <a:rPr lang="en-GB" dirty="0"/>
              <a:t>}</a:t>
            </a:r>
          </a:p>
        </p:txBody>
      </p:sp>
    </p:spTree>
    <p:extLst>
      <p:ext uri="{BB962C8B-B14F-4D97-AF65-F5344CB8AC3E}">
        <p14:creationId xmlns:p14="http://schemas.microsoft.com/office/powerpoint/2010/main" val="393520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Selection Sort </a:t>
            </a:r>
          </a:p>
        </p:txBody>
      </p:sp>
      <p:sp>
        <p:nvSpPr>
          <p:cNvPr id="3" name="Content Placeholder 2"/>
          <p:cNvSpPr>
            <a:spLocks noGrp="1"/>
          </p:cNvSpPr>
          <p:nvPr>
            <p:ph idx="1"/>
          </p:nvPr>
        </p:nvSpPr>
        <p:spPr/>
        <p:txBody>
          <a:bodyPr/>
          <a:lstStyle/>
          <a:p>
            <a:r>
              <a:rPr lang="en-GB" dirty="0"/>
              <a:t>It is a comparison-based sorting algorithm that repeatedly selects the smallest (or largest) element from the unsorted part of the array and swaps it with the first unsorted element. This process continues until the array is fully sorted.</a:t>
            </a:r>
          </a:p>
        </p:txBody>
      </p:sp>
    </p:spTree>
    <p:extLst>
      <p:ext uri="{BB962C8B-B14F-4D97-AF65-F5344CB8AC3E}">
        <p14:creationId xmlns:p14="http://schemas.microsoft.com/office/powerpoint/2010/main" val="3306265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fontAlgn="base"/>
            <a:r>
              <a:rPr lang="en-GB" dirty="0"/>
              <a:t>First we find the smallest element and swap it with the first element. This way we get the smallest element at its correct position.</a:t>
            </a:r>
          </a:p>
          <a:p>
            <a:pPr fontAlgn="base"/>
            <a:r>
              <a:rPr lang="en-GB" dirty="0"/>
              <a:t>Then we find the smallest among remaining elements (or second smallest) and swap it with the second element.</a:t>
            </a:r>
          </a:p>
          <a:p>
            <a:pPr fontAlgn="base"/>
            <a:r>
              <a:rPr lang="en-GB" dirty="0"/>
              <a:t>We keep doing this until we get all elements moved to correct position.</a:t>
            </a:r>
          </a:p>
        </p:txBody>
      </p:sp>
    </p:spTree>
    <p:extLst>
      <p:ext uri="{BB962C8B-B14F-4D97-AF65-F5344CB8AC3E}">
        <p14:creationId xmlns:p14="http://schemas.microsoft.com/office/powerpoint/2010/main" val="42840162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234483" y="1951600"/>
            <a:ext cx="6690940" cy="3208298"/>
          </a:xfrm>
          <a:prstGeom prst="rect">
            <a:avLst/>
          </a:prstGeom>
        </p:spPr>
      </p:pic>
    </p:spTree>
    <p:extLst>
      <p:ext uri="{BB962C8B-B14F-4D97-AF65-F5344CB8AC3E}">
        <p14:creationId xmlns:p14="http://schemas.microsoft.com/office/powerpoint/2010/main" val="2534906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849598" y="1878195"/>
            <a:ext cx="6492803" cy="3101609"/>
          </a:xfrm>
          <a:prstGeom prst="rect">
            <a:avLst/>
          </a:prstGeom>
        </p:spPr>
      </p:pic>
    </p:spTree>
    <p:extLst>
      <p:ext uri="{BB962C8B-B14F-4D97-AF65-F5344CB8AC3E}">
        <p14:creationId xmlns:p14="http://schemas.microsoft.com/office/powerpoint/2010/main" val="384572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864840" y="1920109"/>
            <a:ext cx="6462320" cy="3017782"/>
          </a:xfrm>
          <a:prstGeom prst="rect">
            <a:avLst/>
          </a:prstGeom>
        </p:spPr>
      </p:pic>
    </p:spTree>
    <p:extLst>
      <p:ext uri="{BB962C8B-B14F-4D97-AF65-F5344CB8AC3E}">
        <p14:creationId xmlns:p14="http://schemas.microsoft.com/office/powerpoint/2010/main" val="3995051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Strings in C</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r>
              <a:rPr lang="en-GB" dirty="0"/>
              <a:t>A </a:t>
            </a:r>
            <a:r>
              <a:rPr lang="en-GB" b="1" dirty="0"/>
              <a:t>string</a:t>
            </a:r>
            <a:r>
              <a:rPr lang="en-GB" dirty="0"/>
              <a:t> is an array of characters terminated by a special character '\0' (null character). This null character marks the end of the string and is essential for proper string manipulation</a:t>
            </a:r>
            <a:r>
              <a:rPr lang="en-GB" dirty="0" smtClean="0"/>
              <a:t>.</a:t>
            </a:r>
          </a:p>
          <a:p>
            <a:endParaRPr lang="en-GB" dirty="0"/>
          </a:p>
          <a:p>
            <a:r>
              <a:rPr lang="en-GB" dirty="0"/>
              <a:t>#include &lt;</a:t>
            </a:r>
            <a:r>
              <a:rPr lang="en-GB" dirty="0" err="1"/>
              <a:t>stdio.h</a:t>
            </a:r>
            <a:r>
              <a:rPr lang="en-GB" dirty="0" smtClean="0"/>
              <a:t>&gt;</a:t>
            </a:r>
            <a:endParaRPr lang="en-GB" dirty="0"/>
          </a:p>
          <a:p>
            <a:r>
              <a:rPr lang="en-GB" dirty="0" err="1"/>
              <a:t>int</a:t>
            </a:r>
            <a:r>
              <a:rPr lang="en-GB" dirty="0"/>
              <a:t> main() </a:t>
            </a:r>
            <a:r>
              <a:rPr lang="en-GB" dirty="0" smtClean="0"/>
              <a:t>{    </a:t>
            </a:r>
            <a:endParaRPr lang="en-GB" dirty="0"/>
          </a:p>
          <a:p>
            <a:r>
              <a:rPr lang="en-GB" dirty="0"/>
              <a:t>    // declaring and initializing a string</a:t>
            </a:r>
          </a:p>
          <a:p>
            <a:r>
              <a:rPr lang="en-GB" dirty="0"/>
              <a:t>    char </a:t>
            </a:r>
            <a:r>
              <a:rPr lang="en-GB" dirty="0" err="1"/>
              <a:t>str</a:t>
            </a:r>
            <a:r>
              <a:rPr lang="en-GB" dirty="0"/>
              <a:t>[] = </a:t>
            </a:r>
            <a:r>
              <a:rPr lang="en-GB" dirty="0" smtClean="0"/>
              <a:t>“Hello World";</a:t>
            </a:r>
            <a:endParaRPr lang="en-GB" dirty="0"/>
          </a:p>
          <a:p>
            <a:r>
              <a:rPr lang="en-GB" dirty="0"/>
              <a:t>    // printing the string</a:t>
            </a:r>
          </a:p>
          <a:p>
            <a:r>
              <a:rPr lang="en-GB" dirty="0"/>
              <a:t>    </a:t>
            </a:r>
            <a:r>
              <a:rPr lang="en-GB" dirty="0" err="1"/>
              <a:t>printf</a:t>
            </a:r>
            <a:r>
              <a:rPr lang="en-GB" dirty="0"/>
              <a:t>("The string is: %s\n", </a:t>
            </a:r>
            <a:r>
              <a:rPr lang="en-GB" dirty="0" err="1"/>
              <a:t>str</a:t>
            </a:r>
            <a:r>
              <a:rPr lang="en-GB" dirty="0" smtClean="0"/>
              <a:t>);</a:t>
            </a:r>
            <a:endParaRPr lang="en-GB" dirty="0"/>
          </a:p>
          <a:p>
            <a:r>
              <a:rPr lang="en-GB" dirty="0"/>
              <a:t> </a:t>
            </a:r>
            <a:r>
              <a:rPr lang="en-GB" dirty="0" smtClean="0"/>
              <a:t>  </a:t>
            </a:r>
            <a:r>
              <a:rPr lang="en-GB" dirty="0"/>
              <a:t>return 0;</a:t>
            </a:r>
          </a:p>
          <a:p>
            <a:r>
              <a:rPr lang="en-GB" dirty="0"/>
              <a:t>}</a:t>
            </a:r>
          </a:p>
        </p:txBody>
      </p:sp>
    </p:spTree>
    <p:extLst>
      <p:ext uri="{BB962C8B-B14F-4D97-AF65-F5344CB8AC3E}">
        <p14:creationId xmlns:p14="http://schemas.microsoft.com/office/powerpoint/2010/main" val="932719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%s is the format </a:t>
            </a:r>
            <a:r>
              <a:rPr lang="en-GB" dirty="0" err="1"/>
              <a:t>specifier</a:t>
            </a:r>
            <a:r>
              <a:rPr lang="en-GB" dirty="0"/>
              <a:t> used to print a string. </a:t>
            </a:r>
            <a:r>
              <a:rPr lang="en-GB" dirty="0" err="1"/>
              <a:t>printf</a:t>
            </a:r>
            <a:r>
              <a:rPr lang="en-GB" dirty="0"/>
              <a:t> starts at the memory location of </a:t>
            </a:r>
            <a:r>
              <a:rPr lang="en-GB" dirty="0" err="1"/>
              <a:t>str</a:t>
            </a:r>
            <a:r>
              <a:rPr lang="en-GB" dirty="0"/>
              <a:t> and prints each character until it finds the terminating null character '\0'.</a:t>
            </a:r>
          </a:p>
        </p:txBody>
      </p:sp>
    </p:spTree>
    <p:extLst>
      <p:ext uri="{BB962C8B-B14F-4D97-AF65-F5344CB8AC3E}">
        <p14:creationId xmlns:p14="http://schemas.microsoft.com/office/powerpoint/2010/main" val="109185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Accessing Characters</a:t>
            </a:r>
          </a:p>
        </p:txBody>
      </p:sp>
      <p:sp>
        <p:nvSpPr>
          <p:cNvPr id="3" name="Content Placeholder 2"/>
          <p:cNvSpPr>
            <a:spLocks noGrp="1"/>
          </p:cNvSpPr>
          <p:nvPr>
            <p:ph idx="1"/>
          </p:nvPr>
        </p:nvSpPr>
        <p:spPr/>
        <p:txBody>
          <a:bodyPr>
            <a:normAutofit fontScale="62500" lnSpcReduction="20000"/>
          </a:bodyPr>
          <a:lstStyle/>
          <a:p>
            <a:pPr fontAlgn="base"/>
            <a:r>
              <a:rPr lang="en-GB" dirty="0"/>
              <a:t>A string in C is an array of characters ending with \0.</a:t>
            </a:r>
          </a:p>
          <a:p>
            <a:pPr fontAlgn="base"/>
            <a:r>
              <a:rPr lang="en-GB" dirty="0"/>
              <a:t>We can access any character of the string by providing the position of the character, like in </a:t>
            </a:r>
            <a:r>
              <a:rPr lang="en-GB" dirty="0" err="1"/>
              <a:t>arr</a:t>
            </a:r>
            <a:endParaRPr lang="en-GB" dirty="0"/>
          </a:p>
          <a:p>
            <a:r>
              <a:rPr lang="en-GB" dirty="0"/>
              <a:t>#include &lt;</a:t>
            </a:r>
            <a:r>
              <a:rPr lang="en-GB" dirty="0" err="1"/>
              <a:t>stdio.h</a:t>
            </a:r>
            <a:r>
              <a:rPr lang="en-GB" dirty="0"/>
              <a:t>&gt;</a:t>
            </a:r>
          </a:p>
          <a:p>
            <a:endParaRPr lang="en-GB" dirty="0"/>
          </a:p>
          <a:p>
            <a:r>
              <a:rPr lang="en-GB" dirty="0" err="1"/>
              <a:t>int</a:t>
            </a:r>
            <a:r>
              <a:rPr lang="en-GB" dirty="0"/>
              <a:t> main() {</a:t>
            </a:r>
          </a:p>
          <a:p>
            <a:r>
              <a:rPr lang="en-GB" dirty="0"/>
              <a:t>    </a:t>
            </a:r>
          </a:p>
          <a:p>
            <a:r>
              <a:rPr lang="en-GB" dirty="0"/>
              <a:t>    char </a:t>
            </a:r>
            <a:r>
              <a:rPr lang="en-GB" dirty="0" err="1"/>
              <a:t>str</a:t>
            </a:r>
            <a:r>
              <a:rPr lang="en-GB" dirty="0"/>
              <a:t>[] = </a:t>
            </a:r>
            <a:r>
              <a:rPr lang="en-GB" dirty="0" smtClean="0"/>
              <a:t>“Books</a:t>
            </a:r>
            <a:r>
              <a:rPr lang="en-GB" dirty="0"/>
              <a:t>";</a:t>
            </a:r>
          </a:p>
          <a:p>
            <a:r>
              <a:rPr lang="en-GB" dirty="0"/>
              <a:t>    </a:t>
            </a:r>
          </a:p>
          <a:p>
            <a:r>
              <a:rPr lang="en-GB" dirty="0"/>
              <a:t>    // Access first character</a:t>
            </a:r>
          </a:p>
          <a:p>
            <a:r>
              <a:rPr lang="en-GB" dirty="0"/>
              <a:t>    // of string</a:t>
            </a:r>
          </a:p>
          <a:p>
            <a:r>
              <a:rPr lang="en-GB" dirty="0"/>
              <a:t>    </a:t>
            </a:r>
            <a:r>
              <a:rPr lang="en-GB" dirty="0" err="1"/>
              <a:t>printf</a:t>
            </a:r>
            <a:r>
              <a:rPr lang="en-GB" dirty="0"/>
              <a:t>("%c", </a:t>
            </a:r>
            <a:r>
              <a:rPr lang="en-GB" dirty="0" err="1"/>
              <a:t>str</a:t>
            </a:r>
            <a:r>
              <a:rPr lang="en-GB" dirty="0"/>
              <a:t>[0]);</a:t>
            </a:r>
          </a:p>
          <a:p>
            <a:r>
              <a:rPr lang="en-GB" dirty="0"/>
              <a:t>    return 0;</a:t>
            </a:r>
          </a:p>
          <a:p>
            <a:r>
              <a:rPr lang="en-GB" dirty="0"/>
              <a:t>}</a:t>
            </a:r>
          </a:p>
        </p:txBody>
      </p:sp>
    </p:spTree>
    <p:extLst>
      <p:ext uri="{BB962C8B-B14F-4D97-AF65-F5344CB8AC3E}">
        <p14:creationId xmlns:p14="http://schemas.microsoft.com/office/powerpoint/2010/main" val="1198841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Update</a:t>
            </a:r>
          </a:p>
        </p:txBody>
      </p:sp>
      <p:sp>
        <p:nvSpPr>
          <p:cNvPr id="3" name="Content Placeholder 2"/>
          <p:cNvSpPr>
            <a:spLocks noGrp="1"/>
          </p:cNvSpPr>
          <p:nvPr>
            <p:ph idx="1"/>
          </p:nvPr>
        </p:nvSpPr>
        <p:spPr/>
        <p:txBody>
          <a:bodyPr>
            <a:normAutofit/>
          </a:bodyPr>
          <a:lstStyle/>
          <a:p>
            <a:r>
              <a:rPr lang="en-GB" dirty="0" smtClean="0"/>
              <a:t>If v need to change the value of string to another character.</a:t>
            </a:r>
            <a:endParaRPr lang="en-GB" dirty="0"/>
          </a:p>
        </p:txBody>
      </p:sp>
    </p:spTree>
    <p:extLst>
      <p:ext uri="{BB962C8B-B14F-4D97-AF65-F5344CB8AC3E}">
        <p14:creationId xmlns:p14="http://schemas.microsoft.com/office/powerpoint/2010/main" val="32408009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Update</a:t>
            </a:r>
          </a:p>
        </p:txBody>
      </p:sp>
      <p:sp>
        <p:nvSpPr>
          <p:cNvPr id="3" name="Content Placeholder 2"/>
          <p:cNvSpPr>
            <a:spLocks noGrp="1"/>
          </p:cNvSpPr>
          <p:nvPr>
            <p:ph idx="1"/>
          </p:nvPr>
        </p:nvSpPr>
        <p:spPr/>
        <p:txBody>
          <a:bodyPr>
            <a:normAutofit fontScale="92500" lnSpcReduction="20000"/>
          </a:bodyPr>
          <a:lstStyle/>
          <a:p>
            <a:r>
              <a:rPr lang="en-GB" dirty="0"/>
              <a:t>#include &lt;</a:t>
            </a:r>
            <a:r>
              <a:rPr lang="en-GB" dirty="0" err="1"/>
              <a:t>stdio.h</a:t>
            </a:r>
            <a:r>
              <a:rPr lang="en-GB" dirty="0" smtClean="0"/>
              <a:t>&gt;</a:t>
            </a:r>
            <a:endParaRPr lang="en-GB" dirty="0"/>
          </a:p>
          <a:p>
            <a:r>
              <a:rPr lang="en-GB" dirty="0" err="1"/>
              <a:t>int</a:t>
            </a:r>
            <a:r>
              <a:rPr lang="en-GB" dirty="0"/>
              <a:t> main() {</a:t>
            </a:r>
          </a:p>
          <a:p>
            <a:r>
              <a:rPr lang="en-GB" dirty="0"/>
              <a:t>    char </a:t>
            </a:r>
            <a:r>
              <a:rPr lang="en-GB" dirty="0" err="1"/>
              <a:t>str</a:t>
            </a:r>
            <a:r>
              <a:rPr lang="en-GB" dirty="0"/>
              <a:t>[] = "Geeks";</a:t>
            </a:r>
          </a:p>
          <a:p>
            <a:r>
              <a:rPr lang="en-GB" dirty="0"/>
              <a:t>    </a:t>
            </a:r>
          </a:p>
          <a:p>
            <a:r>
              <a:rPr lang="en-GB" dirty="0"/>
              <a:t>    // Update the first</a:t>
            </a:r>
          </a:p>
          <a:p>
            <a:r>
              <a:rPr lang="en-GB" dirty="0"/>
              <a:t>    // character of string</a:t>
            </a:r>
          </a:p>
          <a:p>
            <a:r>
              <a:rPr lang="en-GB" dirty="0"/>
              <a:t>    </a:t>
            </a:r>
            <a:r>
              <a:rPr lang="en-GB" dirty="0" err="1"/>
              <a:t>str</a:t>
            </a:r>
            <a:r>
              <a:rPr lang="en-GB" dirty="0"/>
              <a:t>[0] = 'R';</a:t>
            </a:r>
          </a:p>
          <a:p>
            <a:r>
              <a:rPr lang="en-GB" dirty="0"/>
              <a:t>    </a:t>
            </a:r>
            <a:r>
              <a:rPr lang="en-GB" dirty="0" err="1"/>
              <a:t>printf</a:t>
            </a:r>
            <a:r>
              <a:rPr lang="en-GB" dirty="0"/>
              <a:t>("%c", </a:t>
            </a:r>
            <a:r>
              <a:rPr lang="en-GB" dirty="0" err="1"/>
              <a:t>str</a:t>
            </a:r>
            <a:r>
              <a:rPr lang="en-GB" dirty="0"/>
              <a:t>[0]);</a:t>
            </a:r>
          </a:p>
          <a:p>
            <a:r>
              <a:rPr lang="en-GB" dirty="0"/>
              <a:t>    return 0;</a:t>
            </a:r>
          </a:p>
          <a:p>
            <a:r>
              <a:rPr lang="en-GB" dirty="0"/>
              <a:t>}</a:t>
            </a:r>
          </a:p>
        </p:txBody>
      </p:sp>
    </p:spTree>
    <p:extLst>
      <p:ext uri="{BB962C8B-B14F-4D97-AF65-F5344CB8AC3E}">
        <p14:creationId xmlns:p14="http://schemas.microsoft.com/office/powerpoint/2010/main" val="1164610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C String Functions</a:t>
            </a:r>
          </a:p>
        </p:txBody>
      </p:sp>
      <p:sp>
        <p:nvSpPr>
          <p:cNvPr id="3" name="Content Placeholder 2"/>
          <p:cNvSpPr>
            <a:spLocks noGrp="1"/>
          </p:cNvSpPr>
          <p:nvPr>
            <p:ph idx="1"/>
          </p:nvPr>
        </p:nvSpPr>
        <p:spPr/>
        <p:txBody>
          <a:bodyPr/>
          <a:lstStyle/>
          <a:p>
            <a:r>
              <a:rPr lang="en-GB" dirty="0"/>
              <a:t>C language provides various built-in functions that can be used for various operations and manipulations on strings. </a:t>
            </a:r>
            <a:endParaRPr lang="en-GB" dirty="0" smtClean="0"/>
          </a:p>
          <a:p>
            <a:r>
              <a:rPr lang="en-GB" dirty="0" smtClean="0"/>
              <a:t>These </a:t>
            </a:r>
            <a:r>
              <a:rPr lang="en-GB" dirty="0"/>
              <a:t>string functions make it easier to perform tasks such as string copy, concatenation, comparison, length, etc. The </a:t>
            </a:r>
            <a:r>
              <a:rPr lang="en-GB" b="1" dirty="0"/>
              <a:t>&lt;</a:t>
            </a:r>
            <a:r>
              <a:rPr lang="en-GB" b="1" dirty="0" err="1"/>
              <a:t>string.h</a:t>
            </a:r>
            <a:r>
              <a:rPr lang="en-GB" b="1" dirty="0"/>
              <a:t>&gt; </a:t>
            </a:r>
            <a:r>
              <a:rPr lang="en-GB" dirty="0"/>
              <a:t>header file contains these string functions.</a:t>
            </a:r>
          </a:p>
        </p:txBody>
      </p:sp>
    </p:spTree>
    <p:extLst>
      <p:ext uri="{BB962C8B-B14F-4D97-AF65-F5344CB8AC3E}">
        <p14:creationId xmlns:p14="http://schemas.microsoft.com/office/powerpoint/2010/main" val="18477100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err="1"/>
              <a:t>strlen</a:t>
            </a:r>
            <a:r>
              <a:rPr lang="en-GB" b="1" dirty="0"/>
              <a:t>()</a:t>
            </a:r>
          </a:p>
        </p:txBody>
      </p:sp>
      <p:sp>
        <p:nvSpPr>
          <p:cNvPr id="3" name="Content Placeholder 2"/>
          <p:cNvSpPr>
            <a:spLocks noGrp="1"/>
          </p:cNvSpPr>
          <p:nvPr>
            <p:ph idx="1"/>
          </p:nvPr>
        </p:nvSpPr>
        <p:spPr>
          <a:xfrm>
            <a:off x="838200" y="1575303"/>
            <a:ext cx="10515600" cy="4601660"/>
          </a:xfrm>
        </p:spPr>
        <p:txBody>
          <a:bodyPr>
            <a:normAutofit fontScale="85000" lnSpcReduction="20000"/>
          </a:bodyPr>
          <a:lstStyle/>
          <a:p>
            <a:r>
              <a:rPr lang="en-GB" dirty="0"/>
              <a:t>The</a:t>
            </a:r>
            <a:r>
              <a:rPr lang="en-GB" b="1" dirty="0"/>
              <a:t> </a:t>
            </a:r>
            <a:r>
              <a:rPr lang="en-GB" b="1" dirty="0" err="1"/>
              <a:t>strlen</a:t>
            </a:r>
            <a:r>
              <a:rPr lang="en-GB" b="1" dirty="0"/>
              <a:t>()</a:t>
            </a:r>
            <a:r>
              <a:rPr lang="en-GB" dirty="0"/>
              <a:t> function is used to find the length of a string. It returns the number of characters in a string, excluding the null terminator ('\0</a:t>
            </a:r>
            <a:r>
              <a:rPr lang="en-GB" dirty="0" smtClean="0"/>
              <a:t>').</a:t>
            </a:r>
          </a:p>
          <a:p>
            <a:endParaRPr lang="en-GB" dirty="0" smtClean="0"/>
          </a:p>
          <a:p>
            <a:r>
              <a:rPr lang="en-GB" dirty="0"/>
              <a:t>#include &lt;</a:t>
            </a:r>
            <a:r>
              <a:rPr lang="en-GB" dirty="0" err="1"/>
              <a:t>stdio.h</a:t>
            </a:r>
            <a:r>
              <a:rPr lang="en-GB" dirty="0"/>
              <a:t>&gt;</a:t>
            </a:r>
          </a:p>
          <a:p>
            <a:r>
              <a:rPr lang="en-GB" dirty="0"/>
              <a:t>#include &lt;</a:t>
            </a:r>
            <a:r>
              <a:rPr lang="en-GB" dirty="0" err="1"/>
              <a:t>string.h</a:t>
            </a:r>
            <a:r>
              <a:rPr lang="en-GB" dirty="0" smtClean="0"/>
              <a:t>&gt;</a:t>
            </a:r>
            <a:endParaRPr lang="en-GB" dirty="0"/>
          </a:p>
          <a:p>
            <a:r>
              <a:rPr lang="en-GB" dirty="0" err="1"/>
              <a:t>int</a:t>
            </a:r>
            <a:r>
              <a:rPr lang="en-GB" dirty="0"/>
              <a:t> main() {</a:t>
            </a:r>
          </a:p>
          <a:p>
            <a:r>
              <a:rPr lang="en-GB" dirty="0"/>
              <a:t>    char s[] = "</a:t>
            </a:r>
            <a:r>
              <a:rPr lang="en-GB" dirty="0" err="1"/>
              <a:t>Gfg</a:t>
            </a:r>
            <a:r>
              <a:rPr lang="en-GB" dirty="0"/>
              <a:t>";</a:t>
            </a:r>
          </a:p>
          <a:p>
            <a:r>
              <a:rPr lang="en-GB" dirty="0"/>
              <a:t>  </a:t>
            </a:r>
          </a:p>
          <a:p>
            <a:r>
              <a:rPr lang="en-GB" dirty="0"/>
              <a:t>  	// Finding and printing length of string s</a:t>
            </a:r>
          </a:p>
          <a:p>
            <a:r>
              <a:rPr lang="en-GB" dirty="0"/>
              <a:t>    </a:t>
            </a:r>
            <a:r>
              <a:rPr lang="en-GB" dirty="0" err="1"/>
              <a:t>printf</a:t>
            </a:r>
            <a:r>
              <a:rPr lang="en-GB" dirty="0" smtClean="0"/>
              <a:t>("%</a:t>
            </a:r>
            <a:r>
              <a:rPr lang="en-GB" dirty="0"/>
              <a:t>s</a:t>
            </a:r>
            <a:r>
              <a:rPr lang="en-GB" dirty="0" smtClean="0"/>
              <a:t>", </a:t>
            </a:r>
            <a:r>
              <a:rPr lang="en-GB" dirty="0" err="1"/>
              <a:t>strlen</a:t>
            </a:r>
            <a:r>
              <a:rPr lang="en-GB" dirty="0"/>
              <a:t>(s));</a:t>
            </a:r>
          </a:p>
          <a:p>
            <a:r>
              <a:rPr lang="en-GB" dirty="0"/>
              <a:t>    return 0;</a:t>
            </a:r>
          </a:p>
          <a:p>
            <a:r>
              <a:rPr lang="en-GB" dirty="0"/>
              <a:t>}</a:t>
            </a:r>
          </a:p>
        </p:txBody>
      </p:sp>
    </p:spTree>
    <p:extLst>
      <p:ext uri="{BB962C8B-B14F-4D97-AF65-F5344CB8AC3E}">
        <p14:creationId xmlns:p14="http://schemas.microsoft.com/office/powerpoint/2010/main" val="2810109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a:t>strcpy</a:t>
            </a:r>
            <a:r>
              <a:rPr lang="en-GB" b="1" dirty="0"/>
              <a:t>()</a:t>
            </a:r>
            <a:br>
              <a:rPr lang="en-GB" b="1" dirty="0"/>
            </a:br>
            <a:endParaRPr lang="en-GB" dirty="0"/>
          </a:p>
        </p:txBody>
      </p:sp>
      <p:sp>
        <p:nvSpPr>
          <p:cNvPr id="3" name="Content Placeholder 2"/>
          <p:cNvSpPr>
            <a:spLocks noGrp="1"/>
          </p:cNvSpPr>
          <p:nvPr>
            <p:ph idx="1"/>
          </p:nvPr>
        </p:nvSpPr>
        <p:spPr/>
        <p:txBody>
          <a:bodyPr/>
          <a:lstStyle/>
          <a:p>
            <a:r>
              <a:rPr lang="en-GB" dirty="0"/>
              <a:t>The </a:t>
            </a:r>
            <a:r>
              <a:rPr lang="en-GB" b="1" dirty="0" err="1"/>
              <a:t>strcpy</a:t>
            </a:r>
            <a:r>
              <a:rPr lang="en-GB" b="1" dirty="0"/>
              <a:t>() </a:t>
            </a:r>
            <a:r>
              <a:rPr lang="en-GB" dirty="0"/>
              <a:t>function copies a string from the source to the destination. It copies the entire string, including the null terminator</a:t>
            </a:r>
            <a:r>
              <a:rPr lang="en-GB" dirty="0" smtClean="0"/>
              <a:t>.</a:t>
            </a:r>
          </a:p>
          <a:p>
            <a:pPr marL="0" indent="0">
              <a:buNone/>
            </a:pPr>
            <a:r>
              <a:rPr lang="en-GB" dirty="0" smtClean="0"/>
              <a:t>Syntax :</a:t>
            </a:r>
            <a:r>
              <a:rPr lang="en-GB" dirty="0" err="1" smtClean="0"/>
              <a:t>strcpy</a:t>
            </a:r>
            <a:r>
              <a:rPr lang="en-GB" dirty="0" smtClean="0"/>
              <a:t>(</a:t>
            </a:r>
            <a:r>
              <a:rPr lang="en-GB" dirty="0" err="1" smtClean="0"/>
              <a:t>dest</a:t>
            </a:r>
            <a:r>
              <a:rPr lang="en-GB" dirty="0"/>
              <a:t>, </a:t>
            </a:r>
            <a:r>
              <a:rPr lang="en-GB" dirty="0" err="1"/>
              <a:t>src</a:t>
            </a:r>
            <a:r>
              <a:rPr lang="en-GB" dirty="0"/>
              <a:t>);  </a:t>
            </a:r>
          </a:p>
          <a:p>
            <a:endParaRPr lang="en-GB" dirty="0"/>
          </a:p>
        </p:txBody>
      </p:sp>
    </p:spTree>
    <p:extLst>
      <p:ext uri="{BB962C8B-B14F-4D97-AF65-F5344CB8AC3E}">
        <p14:creationId xmlns:p14="http://schemas.microsoft.com/office/powerpoint/2010/main" val="7207186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dirty="0"/>
              <a:t>#include &lt;</a:t>
            </a:r>
            <a:r>
              <a:rPr lang="en-GB" dirty="0" err="1"/>
              <a:t>stdio.h</a:t>
            </a:r>
            <a:r>
              <a:rPr lang="en-GB" dirty="0"/>
              <a:t>&gt;</a:t>
            </a:r>
          </a:p>
          <a:p>
            <a:r>
              <a:rPr lang="en-GB" dirty="0"/>
              <a:t>#include &lt;</a:t>
            </a:r>
            <a:r>
              <a:rPr lang="en-GB" dirty="0" err="1"/>
              <a:t>string.h</a:t>
            </a:r>
            <a:r>
              <a:rPr lang="en-GB" dirty="0"/>
              <a:t>&gt;</a:t>
            </a:r>
          </a:p>
          <a:p>
            <a:endParaRPr lang="en-GB" dirty="0"/>
          </a:p>
          <a:p>
            <a:r>
              <a:rPr lang="en-GB" dirty="0" err="1"/>
              <a:t>int</a:t>
            </a:r>
            <a:r>
              <a:rPr lang="en-GB" dirty="0"/>
              <a:t> main() {</a:t>
            </a:r>
          </a:p>
          <a:p>
            <a:r>
              <a:rPr lang="en-GB" dirty="0"/>
              <a:t>    char </a:t>
            </a:r>
            <a:r>
              <a:rPr lang="en-GB" dirty="0" err="1"/>
              <a:t>src</a:t>
            </a:r>
            <a:r>
              <a:rPr lang="en-GB" dirty="0"/>
              <a:t>[] = "Hello";</a:t>
            </a:r>
          </a:p>
          <a:p>
            <a:r>
              <a:rPr lang="en-GB" dirty="0"/>
              <a:t>    char </a:t>
            </a:r>
            <a:r>
              <a:rPr lang="en-GB" dirty="0" err="1"/>
              <a:t>dest</a:t>
            </a:r>
            <a:r>
              <a:rPr lang="en-GB" dirty="0"/>
              <a:t>[20];</a:t>
            </a:r>
          </a:p>
          <a:p>
            <a:r>
              <a:rPr lang="en-GB" dirty="0"/>
              <a:t>    </a:t>
            </a:r>
          </a:p>
          <a:p>
            <a:r>
              <a:rPr lang="en-GB" dirty="0"/>
              <a:t>    // Copies "Hello" to </a:t>
            </a:r>
            <a:r>
              <a:rPr lang="en-GB" dirty="0" err="1"/>
              <a:t>dest</a:t>
            </a:r>
            <a:endParaRPr lang="en-GB" dirty="0"/>
          </a:p>
          <a:p>
            <a:r>
              <a:rPr lang="en-GB" dirty="0"/>
              <a:t>    </a:t>
            </a:r>
            <a:r>
              <a:rPr lang="en-GB" dirty="0" err="1"/>
              <a:t>strcpy</a:t>
            </a:r>
            <a:r>
              <a:rPr lang="en-GB" dirty="0"/>
              <a:t>(</a:t>
            </a:r>
            <a:r>
              <a:rPr lang="en-GB" dirty="0" err="1"/>
              <a:t>dest</a:t>
            </a:r>
            <a:r>
              <a:rPr lang="en-GB" dirty="0"/>
              <a:t>, </a:t>
            </a:r>
            <a:r>
              <a:rPr lang="en-GB" dirty="0" err="1"/>
              <a:t>src</a:t>
            </a:r>
            <a:r>
              <a:rPr lang="en-GB" dirty="0"/>
              <a:t>);  </a:t>
            </a:r>
          </a:p>
          <a:p>
            <a:r>
              <a:rPr lang="en-GB" dirty="0"/>
              <a:t>    </a:t>
            </a:r>
            <a:r>
              <a:rPr lang="en-GB" dirty="0" err="1"/>
              <a:t>printf</a:t>
            </a:r>
            <a:r>
              <a:rPr lang="en-GB" dirty="0"/>
              <a:t>("%s", </a:t>
            </a:r>
            <a:r>
              <a:rPr lang="en-GB" dirty="0" err="1"/>
              <a:t>dest</a:t>
            </a:r>
            <a:r>
              <a:rPr lang="en-GB" dirty="0"/>
              <a:t>);</a:t>
            </a:r>
          </a:p>
          <a:p>
            <a:r>
              <a:rPr lang="en-GB" dirty="0"/>
              <a:t>    return 0;</a:t>
            </a:r>
          </a:p>
          <a:p>
            <a:r>
              <a:rPr lang="en-GB" dirty="0"/>
              <a:t>}</a:t>
            </a:r>
          </a:p>
        </p:txBody>
      </p:sp>
    </p:spTree>
    <p:extLst>
      <p:ext uri="{BB962C8B-B14F-4D97-AF65-F5344CB8AC3E}">
        <p14:creationId xmlns:p14="http://schemas.microsoft.com/office/powerpoint/2010/main" val="32369935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err="1"/>
              <a:t>strcat</a:t>
            </a:r>
            <a:r>
              <a:rPr lang="en-GB" b="1" dirty="0"/>
              <a:t>()</a:t>
            </a:r>
          </a:p>
        </p:txBody>
      </p:sp>
      <p:sp>
        <p:nvSpPr>
          <p:cNvPr id="3" name="Content Placeholder 2"/>
          <p:cNvSpPr>
            <a:spLocks noGrp="1"/>
          </p:cNvSpPr>
          <p:nvPr>
            <p:ph idx="1"/>
          </p:nvPr>
        </p:nvSpPr>
        <p:spPr/>
        <p:txBody>
          <a:bodyPr/>
          <a:lstStyle/>
          <a:p>
            <a:r>
              <a:rPr lang="en-GB" dirty="0"/>
              <a:t>The </a:t>
            </a:r>
            <a:r>
              <a:rPr lang="en-GB" b="1" dirty="0" err="1"/>
              <a:t>strcat</a:t>
            </a:r>
            <a:r>
              <a:rPr lang="en-GB" b="1" dirty="0"/>
              <a:t>()</a:t>
            </a:r>
            <a:r>
              <a:rPr lang="en-GB" dirty="0"/>
              <a:t> function is used to concatenate (append) one string to the end of another. It appends the source string to the destination string, replacing the null terminator of the destination with the source string’s content</a:t>
            </a:r>
            <a:r>
              <a:rPr lang="en-GB" dirty="0" smtClean="0"/>
              <a:t>.</a:t>
            </a:r>
          </a:p>
          <a:p>
            <a:endParaRPr lang="en-GB" dirty="0"/>
          </a:p>
          <a:p>
            <a:r>
              <a:rPr lang="en-GB" b="1" dirty="0" err="1"/>
              <a:t>strcat</a:t>
            </a:r>
            <a:r>
              <a:rPr lang="en-GB" dirty="0"/>
              <a:t>(</a:t>
            </a:r>
            <a:r>
              <a:rPr lang="en-GB" dirty="0" err="1"/>
              <a:t>dest</a:t>
            </a:r>
            <a:r>
              <a:rPr lang="en-GB" dirty="0"/>
              <a:t>, </a:t>
            </a:r>
            <a:r>
              <a:rPr lang="en-GB" dirty="0" err="1"/>
              <a:t>src</a:t>
            </a:r>
            <a:r>
              <a:rPr lang="en-GB" dirty="0"/>
              <a:t>);</a:t>
            </a:r>
          </a:p>
        </p:txBody>
      </p:sp>
    </p:spTree>
    <p:extLst>
      <p:ext uri="{BB962C8B-B14F-4D97-AF65-F5344CB8AC3E}">
        <p14:creationId xmlns:p14="http://schemas.microsoft.com/office/powerpoint/2010/main" val="1732894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7500" lnSpcReduction="20000"/>
          </a:bodyPr>
          <a:lstStyle/>
          <a:p>
            <a:r>
              <a:rPr lang="en-GB" dirty="0"/>
              <a:t>#include &lt;</a:t>
            </a:r>
            <a:r>
              <a:rPr lang="en-GB" dirty="0" err="1"/>
              <a:t>stdio.h</a:t>
            </a:r>
            <a:r>
              <a:rPr lang="en-GB" dirty="0"/>
              <a:t>&gt;</a:t>
            </a:r>
          </a:p>
          <a:p>
            <a:r>
              <a:rPr lang="en-GB" dirty="0"/>
              <a:t>#include &lt;</a:t>
            </a:r>
            <a:r>
              <a:rPr lang="en-GB" dirty="0" err="1"/>
              <a:t>string.h</a:t>
            </a:r>
            <a:r>
              <a:rPr lang="en-GB" dirty="0"/>
              <a:t>&gt;</a:t>
            </a:r>
          </a:p>
          <a:p>
            <a:endParaRPr lang="en-GB" dirty="0"/>
          </a:p>
          <a:p>
            <a:r>
              <a:rPr lang="en-GB" dirty="0" err="1"/>
              <a:t>int</a:t>
            </a:r>
            <a:r>
              <a:rPr lang="en-GB" dirty="0"/>
              <a:t> main() {</a:t>
            </a:r>
          </a:p>
          <a:p>
            <a:r>
              <a:rPr lang="en-GB" dirty="0"/>
              <a:t>    char s1[30] = "Hello, ";</a:t>
            </a:r>
          </a:p>
          <a:p>
            <a:r>
              <a:rPr lang="en-GB" dirty="0"/>
              <a:t>    char s2[] = "Geeks!";</a:t>
            </a:r>
          </a:p>
          <a:p>
            <a:r>
              <a:rPr lang="en-GB" dirty="0"/>
              <a:t>    </a:t>
            </a:r>
          </a:p>
          <a:p>
            <a:r>
              <a:rPr lang="en-GB" dirty="0"/>
              <a:t>    // Appends "Geeks!" to "Hello, "</a:t>
            </a:r>
          </a:p>
          <a:p>
            <a:r>
              <a:rPr lang="en-GB" dirty="0"/>
              <a:t>    </a:t>
            </a:r>
            <a:r>
              <a:rPr lang="en-GB" dirty="0" err="1"/>
              <a:t>strcat</a:t>
            </a:r>
            <a:r>
              <a:rPr lang="en-GB" dirty="0"/>
              <a:t>(s1, s2);  </a:t>
            </a:r>
          </a:p>
          <a:p>
            <a:r>
              <a:rPr lang="en-GB" dirty="0"/>
              <a:t>    </a:t>
            </a:r>
            <a:r>
              <a:rPr lang="en-GB" dirty="0" err="1"/>
              <a:t>printf</a:t>
            </a:r>
            <a:r>
              <a:rPr lang="en-GB" dirty="0"/>
              <a:t>("%s", s1);</a:t>
            </a:r>
          </a:p>
          <a:p>
            <a:r>
              <a:rPr lang="en-GB" dirty="0"/>
              <a:t>    return 0;</a:t>
            </a:r>
          </a:p>
          <a:p>
            <a:r>
              <a:rPr lang="en-GB" dirty="0"/>
              <a:t>}</a:t>
            </a:r>
          </a:p>
        </p:txBody>
      </p:sp>
    </p:spTree>
    <p:extLst>
      <p:ext uri="{BB962C8B-B14F-4D97-AF65-F5344CB8AC3E}">
        <p14:creationId xmlns:p14="http://schemas.microsoft.com/office/powerpoint/2010/main" val="18979943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err="1"/>
              <a:t>strcmp</a:t>
            </a:r>
            <a:r>
              <a:rPr lang="en-GB" b="1" dirty="0"/>
              <a:t>()</a:t>
            </a:r>
          </a:p>
        </p:txBody>
      </p:sp>
      <p:sp>
        <p:nvSpPr>
          <p:cNvPr id="3" name="Content Placeholder 2"/>
          <p:cNvSpPr>
            <a:spLocks noGrp="1"/>
          </p:cNvSpPr>
          <p:nvPr>
            <p:ph idx="1"/>
          </p:nvPr>
        </p:nvSpPr>
        <p:spPr/>
        <p:txBody>
          <a:bodyPr/>
          <a:lstStyle/>
          <a:p>
            <a:r>
              <a:rPr lang="en-GB" dirty="0"/>
              <a:t>The </a:t>
            </a:r>
            <a:r>
              <a:rPr lang="en-GB" b="1" dirty="0" err="1"/>
              <a:t>strcmp</a:t>
            </a:r>
            <a:r>
              <a:rPr lang="en-GB" b="1" dirty="0"/>
              <a:t>()</a:t>
            </a:r>
            <a:r>
              <a:rPr lang="en-GB" dirty="0"/>
              <a:t> is a built-in library function in C. This function takes two strings as arguments, compares these two strings lexicographically and returns an integer value as a result of comparison</a:t>
            </a:r>
            <a:r>
              <a:rPr lang="en-GB" dirty="0" smtClean="0"/>
              <a:t>.</a:t>
            </a:r>
          </a:p>
          <a:p>
            <a:endParaRPr lang="en-GB" dirty="0"/>
          </a:p>
          <a:p>
            <a:r>
              <a:rPr lang="en-GB" b="1" dirty="0" err="1"/>
              <a:t>strcmp</a:t>
            </a:r>
            <a:r>
              <a:rPr lang="en-GB" dirty="0"/>
              <a:t>(s1, s2);</a:t>
            </a:r>
          </a:p>
        </p:txBody>
      </p:sp>
    </p:spTree>
    <p:extLst>
      <p:ext uri="{BB962C8B-B14F-4D97-AF65-F5344CB8AC3E}">
        <p14:creationId xmlns:p14="http://schemas.microsoft.com/office/powerpoint/2010/main" val="35553229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GB" dirty="0"/>
              <a:t>#include &lt;</a:t>
            </a:r>
            <a:r>
              <a:rPr lang="en-GB" dirty="0" err="1"/>
              <a:t>stdio.h</a:t>
            </a:r>
            <a:r>
              <a:rPr lang="en-GB" dirty="0"/>
              <a:t>&gt;</a:t>
            </a:r>
          </a:p>
          <a:p>
            <a:r>
              <a:rPr lang="en-GB" dirty="0"/>
              <a:t>#include &lt;</a:t>
            </a:r>
            <a:r>
              <a:rPr lang="en-GB" dirty="0" err="1"/>
              <a:t>string.h</a:t>
            </a:r>
            <a:r>
              <a:rPr lang="en-GB" dirty="0" smtClean="0"/>
              <a:t>&gt;</a:t>
            </a:r>
            <a:endParaRPr lang="en-GB" dirty="0"/>
          </a:p>
          <a:p>
            <a:r>
              <a:rPr lang="en-GB" dirty="0" err="1"/>
              <a:t>int</a:t>
            </a:r>
            <a:r>
              <a:rPr lang="en-GB" dirty="0"/>
              <a:t> main() {</a:t>
            </a:r>
          </a:p>
          <a:p>
            <a:r>
              <a:rPr lang="en-GB" dirty="0"/>
              <a:t>    char str1[20], str2[20</a:t>
            </a:r>
            <a:r>
              <a:rPr lang="en-GB" dirty="0" smtClean="0"/>
              <a:t>];</a:t>
            </a:r>
            <a:endParaRPr lang="en-GB" dirty="0"/>
          </a:p>
          <a:p>
            <a:r>
              <a:rPr lang="en-GB" dirty="0"/>
              <a:t>    </a:t>
            </a:r>
            <a:r>
              <a:rPr lang="en-GB" dirty="0" err="1"/>
              <a:t>printf</a:t>
            </a:r>
            <a:r>
              <a:rPr lang="en-GB" dirty="0"/>
              <a:t>("Enter first string: ");</a:t>
            </a:r>
          </a:p>
          <a:p>
            <a:r>
              <a:rPr lang="en-GB" dirty="0"/>
              <a:t>    </a:t>
            </a:r>
            <a:r>
              <a:rPr lang="en-GB" dirty="0" err="1"/>
              <a:t>scanf</a:t>
            </a:r>
            <a:r>
              <a:rPr lang="en-GB" dirty="0"/>
              <a:t>("%s", str1</a:t>
            </a:r>
            <a:r>
              <a:rPr lang="en-GB" dirty="0" smtClean="0"/>
              <a:t>);</a:t>
            </a:r>
            <a:endParaRPr lang="en-GB" dirty="0"/>
          </a:p>
          <a:p>
            <a:r>
              <a:rPr lang="en-GB" dirty="0"/>
              <a:t>    </a:t>
            </a:r>
            <a:r>
              <a:rPr lang="en-GB" dirty="0" err="1"/>
              <a:t>printf</a:t>
            </a:r>
            <a:r>
              <a:rPr lang="en-GB" dirty="0"/>
              <a:t>("Enter second string: ");</a:t>
            </a:r>
          </a:p>
          <a:p>
            <a:r>
              <a:rPr lang="en-GB" dirty="0"/>
              <a:t>    </a:t>
            </a:r>
            <a:r>
              <a:rPr lang="en-GB" dirty="0" err="1"/>
              <a:t>scanf</a:t>
            </a:r>
            <a:r>
              <a:rPr lang="en-GB" dirty="0"/>
              <a:t>("%s", str2</a:t>
            </a:r>
            <a:r>
              <a:rPr lang="en-GB" dirty="0" smtClean="0"/>
              <a:t>);</a:t>
            </a:r>
            <a:endParaRPr lang="en-GB" dirty="0"/>
          </a:p>
          <a:p>
            <a:r>
              <a:rPr lang="en-GB" dirty="0"/>
              <a:t>    </a:t>
            </a:r>
            <a:r>
              <a:rPr lang="en-GB" dirty="0" err="1"/>
              <a:t>int</a:t>
            </a:r>
            <a:r>
              <a:rPr lang="en-GB" dirty="0"/>
              <a:t> result = </a:t>
            </a:r>
            <a:r>
              <a:rPr lang="en-GB" dirty="0" err="1"/>
              <a:t>strcmp</a:t>
            </a:r>
            <a:r>
              <a:rPr lang="en-GB" dirty="0"/>
              <a:t>(str1, str2</a:t>
            </a:r>
            <a:r>
              <a:rPr lang="en-GB" dirty="0" smtClean="0"/>
              <a:t>);</a:t>
            </a:r>
            <a:endParaRPr lang="en-GB" dirty="0"/>
          </a:p>
          <a:p>
            <a:r>
              <a:rPr lang="en-GB" dirty="0"/>
              <a:t>    </a:t>
            </a:r>
            <a:r>
              <a:rPr lang="en-GB" dirty="0" err="1"/>
              <a:t>printf</a:t>
            </a:r>
            <a:r>
              <a:rPr lang="en-GB" dirty="0"/>
              <a:t>("Result = %d", result);   // only prints return </a:t>
            </a:r>
            <a:r>
              <a:rPr lang="en-GB" dirty="0" smtClean="0"/>
              <a:t>value</a:t>
            </a:r>
            <a:endParaRPr lang="en-GB" dirty="0"/>
          </a:p>
          <a:p>
            <a:r>
              <a:rPr lang="en-GB" dirty="0"/>
              <a:t>    return 0;</a:t>
            </a:r>
          </a:p>
          <a:p>
            <a:r>
              <a:rPr lang="en-GB" dirty="0"/>
              <a:t>}</a:t>
            </a:r>
          </a:p>
        </p:txBody>
      </p:sp>
    </p:spTree>
    <p:extLst>
      <p:ext uri="{BB962C8B-B14F-4D97-AF65-F5344CB8AC3E}">
        <p14:creationId xmlns:p14="http://schemas.microsoft.com/office/powerpoint/2010/main" val="3442908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strrev</a:t>
            </a:r>
            <a:r>
              <a:rPr lang="en-GB" dirty="0"/>
              <a:t>()</a:t>
            </a:r>
          </a:p>
        </p:txBody>
      </p:sp>
      <p:sp>
        <p:nvSpPr>
          <p:cNvPr id="3" name="Content Placeholder 2"/>
          <p:cNvSpPr>
            <a:spLocks noGrp="1"/>
          </p:cNvSpPr>
          <p:nvPr>
            <p:ph idx="1"/>
          </p:nvPr>
        </p:nvSpPr>
        <p:spPr/>
        <p:txBody>
          <a:bodyPr>
            <a:normAutofit fontScale="92500" lnSpcReduction="20000"/>
          </a:bodyPr>
          <a:lstStyle/>
          <a:p>
            <a:r>
              <a:rPr lang="en-GB" dirty="0" err="1"/>
              <a:t>strrev</a:t>
            </a:r>
            <a:r>
              <a:rPr lang="en-GB" dirty="0"/>
              <a:t>() is used to reverse the characters in a string</a:t>
            </a:r>
            <a:r>
              <a:rPr lang="en-GB" dirty="0" smtClean="0"/>
              <a:t>.</a:t>
            </a:r>
          </a:p>
          <a:p>
            <a:endParaRPr lang="en-GB" dirty="0"/>
          </a:p>
          <a:p>
            <a:r>
              <a:rPr lang="en-GB" dirty="0"/>
              <a:t>#include &lt;</a:t>
            </a:r>
            <a:r>
              <a:rPr lang="en-GB" dirty="0" err="1"/>
              <a:t>stdio.h</a:t>
            </a:r>
            <a:r>
              <a:rPr lang="en-GB" dirty="0"/>
              <a:t>&gt;</a:t>
            </a:r>
          </a:p>
          <a:p>
            <a:r>
              <a:rPr lang="en-GB" dirty="0"/>
              <a:t>#include &lt;</a:t>
            </a:r>
            <a:r>
              <a:rPr lang="en-GB" dirty="0" err="1"/>
              <a:t>string.h</a:t>
            </a:r>
            <a:r>
              <a:rPr lang="en-GB" dirty="0" smtClean="0"/>
              <a:t>&gt;</a:t>
            </a:r>
            <a:endParaRPr lang="en-GB" dirty="0"/>
          </a:p>
          <a:p>
            <a:r>
              <a:rPr lang="en-GB" dirty="0" err="1"/>
              <a:t>int</a:t>
            </a:r>
            <a:r>
              <a:rPr lang="en-GB" dirty="0"/>
              <a:t> main() {</a:t>
            </a:r>
          </a:p>
          <a:p>
            <a:r>
              <a:rPr lang="en-GB" dirty="0"/>
              <a:t>    char name[50] = </a:t>
            </a:r>
            <a:r>
              <a:rPr lang="en-GB" dirty="0" smtClean="0"/>
              <a:t>“Book";</a:t>
            </a:r>
            <a:endParaRPr lang="en-GB" dirty="0"/>
          </a:p>
          <a:p>
            <a:r>
              <a:rPr lang="en-GB" dirty="0"/>
              <a:t>    </a:t>
            </a:r>
            <a:r>
              <a:rPr lang="en-GB" dirty="0" err="1"/>
              <a:t>strrev</a:t>
            </a:r>
            <a:r>
              <a:rPr lang="en-GB" dirty="0"/>
              <a:t>(name);</a:t>
            </a:r>
          </a:p>
          <a:p>
            <a:r>
              <a:rPr lang="en-GB" dirty="0"/>
              <a:t>    </a:t>
            </a:r>
            <a:r>
              <a:rPr lang="en-GB" dirty="0" err="1"/>
              <a:t>printf</a:t>
            </a:r>
            <a:r>
              <a:rPr lang="en-GB" dirty="0"/>
              <a:t>("Reversed string = %s", name);</a:t>
            </a:r>
          </a:p>
          <a:p>
            <a:r>
              <a:rPr lang="en-GB" dirty="0"/>
              <a:t>    return 0;</a:t>
            </a:r>
          </a:p>
          <a:p>
            <a:r>
              <a:rPr lang="en-GB" dirty="0"/>
              <a:t>}</a:t>
            </a:r>
          </a:p>
        </p:txBody>
      </p:sp>
    </p:spTree>
    <p:extLst>
      <p:ext uri="{BB962C8B-B14F-4D97-AF65-F5344CB8AC3E}">
        <p14:creationId xmlns:p14="http://schemas.microsoft.com/office/powerpoint/2010/main" val="1131862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strlwr</a:t>
            </a:r>
            <a:r>
              <a:rPr lang="en-GB" dirty="0"/>
              <a:t>()</a:t>
            </a:r>
          </a:p>
        </p:txBody>
      </p:sp>
      <p:sp>
        <p:nvSpPr>
          <p:cNvPr id="3" name="Content Placeholder 2"/>
          <p:cNvSpPr>
            <a:spLocks noGrp="1"/>
          </p:cNvSpPr>
          <p:nvPr>
            <p:ph idx="1"/>
          </p:nvPr>
        </p:nvSpPr>
        <p:spPr/>
        <p:txBody>
          <a:bodyPr>
            <a:normAutofit fontScale="92500" lnSpcReduction="20000"/>
          </a:bodyPr>
          <a:lstStyle/>
          <a:p>
            <a:r>
              <a:rPr lang="en-GB" dirty="0" err="1"/>
              <a:t>strlwr</a:t>
            </a:r>
            <a:r>
              <a:rPr lang="en-GB" dirty="0"/>
              <a:t>() converts all uppercase characters in a string to lowercase</a:t>
            </a:r>
            <a:r>
              <a:rPr lang="en-GB" dirty="0" smtClean="0"/>
              <a:t>.</a:t>
            </a:r>
          </a:p>
          <a:p>
            <a:r>
              <a:rPr lang="en-GB" dirty="0"/>
              <a:t>#include &lt;</a:t>
            </a:r>
            <a:r>
              <a:rPr lang="en-GB" dirty="0" err="1"/>
              <a:t>stdio.h</a:t>
            </a:r>
            <a:r>
              <a:rPr lang="en-GB" dirty="0"/>
              <a:t>&gt;</a:t>
            </a:r>
          </a:p>
          <a:p>
            <a:r>
              <a:rPr lang="en-GB" dirty="0"/>
              <a:t>#include &lt;</a:t>
            </a:r>
            <a:r>
              <a:rPr lang="en-GB" dirty="0" err="1"/>
              <a:t>string.h</a:t>
            </a:r>
            <a:r>
              <a:rPr lang="en-GB" dirty="0"/>
              <a:t>&gt;</a:t>
            </a:r>
          </a:p>
          <a:p>
            <a:endParaRPr lang="en-GB" dirty="0"/>
          </a:p>
          <a:p>
            <a:r>
              <a:rPr lang="en-GB" dirty="0" err="1"/>
              <a:t>int</a:t>
            </a:r>
            <a:r>
              <a:rPr lang="en-GB" dirty="0"/>
              <a:t> main() {</a:t>
            </a:r>
          </a:p>
          <a:p>
            <a:r>
              <a:rPr lang="en-GB" dirty="0"/>
              <a:t>    char text[50] = "HELLO WORLD";</a:t>
            </a:r>
          </a:p>
          <a:p>
            <a:r>
              <a:rPr lang="en-GB" dirty="0"/>
              <a:t>    </a:t>
            </a:r>
            <a:r>
              <a:rPr lang="en-GB" dirty="0" err="1"/>
              <a:t>strlwr</a:t>
            </a:r>
            <a:r>
              <a:rPr lang="en-GB" dirty="0"/>
              <a:t>(text);</a:t>
            </a:r>
          </a:p>
          <a:p>
            <a:r>
              <a:rPr lang="en-GB" dirty="0"/>
              <a:t>    </a:t>
            </a:r>
            <a:r>
              <a:rPr lang="en-GB" dirty="0" err="1"/>
              <a:t>printf</a:t>
            </a:r>
            <a:r>
              <a:rPr lang="en-GB" dirty="0"/>
              <a:t>("Lowercase string = %s", text);</a:t>
            </a:r>
          </a:p>
          <a:p>
            <a:r>
              <a:rPr lang="en-GB" dirty="0"/>
              <a:t>    return 0;</a:t>
            </a:r>
          </a:p>
          <a:p>
            <a:r>
              <a:rPr lang="en-GB" dirty="0"/>
              <a:t>}</a:t>
            </a:r>
          </a:p>
        </p:txBody>
      </p:sp>
    </p:spTree>
    <p:extLst>
      <p:ext uri="{BB962C8B-B14F-4D97-AF65-F5344CB8AC3E}">
        <p14:creationId xmlns:p14="http://schemas.microsoft.com/office/powerpoint/2010/main" val="764662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Write a C program to perform following operation without using built-in functions: </a:t>
            </a:r>
            <a:r>
              <a:rPr lang="en-GB" dirty="0" err="1"/>
              <a:t>i</a:t>
            </a:r>
            <a:r>
              <a:rPr lang="en-GB" dirty="0"/>
              <a:t>) concatenate two strings ii) copy two strings iii) find length of the given </a:t>
            </a:r>
            <a:r>
              <a:rPr lang="en-GB" dirty="0" smtClean="0"/>
              <a:t>string</a:t>
            </a:r>
          </a:p>
        </p:txBody>
      </p:sp>
    </p:spTree>
    <p:extLst>
      <p:ext uri="{BB962C8B-B14F-4D97-AF65-F5344CB8AC3E}">
        <p14:creationId xmlns:p14="http://schemas.microsoft.com/office/powerpoint/2010/main" val="3542915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444" y="153908"/>
            <a:ext cx="4436198" cy="6618084"/>
          </a:xfrm>
        </p:spPr>
        <p:txBody>
          <a:bodyPr>
            <a:normAutofit fontScale="70000" lnSpcReduction="20000"/>
          </a:bodyPr>
          <a:lstStyle/>
          <a:p>
            <a:r>
              <a:rPr lang="en-GB" dirty="0"/>
              <a:t>#include &lt;</a:t>
            </a:r>
            <a:r>
              <a:rPr lang="en-GB" dirty="0" err="1"/>
              <a:t>stdio.h</a:t>
            </a:r>
            <a:r>
              <a:rPr lang="en-GB" dirty="0" smtClean="0"/>
              <a:t>&gt;</a:t>
            </a:r>
            <a:endParaRPr lang="en-GB" dirty="0"/>
          </a:p>
          <a:p>
            <a:r>
              <a:rPr lang="en-GB" dirty="0" err="1"/>
              <a:t>int</a:t>
            </a:r>
            <a:r>
              <a:rPr lang="en-GB" dirty="0"/>
              <a:t> main() {</a:t>
            </a:r>
          </a:p>
          <a:p>
            <a:r>
              <a:rPr lang="en-GB" dirty="0"/>
              <a:t>    char str1[100], str2[100], copy[100];</a:t>
            </a:r>
          </a:p>
          <a:p>
            <a:r>
              <a:rPr lang="en-GB" dirty="0"/>
              <a:t>    </a:t>
            </a:r>
            <a:r>
              <a:rPr lang="en-GB" dirty="0" err="1"/>
              <a:t>int</a:t>
            </a:r>
            <a:r>
              <a:rPr lang="en-GB" dirty="0"/>
              <a:t> </a:t>
            </a:r>
            <a:r>
              <a:rPr lang="en-GB" dirty="0" err="1"/>
              <a:t>i</a:t>
            </a:r>
            <a:r>
              <a:rPr lang="en-GB" dirty="0"/>
              <a:t>, j</a:t>
            </a:r>
            <a:r>
              <a:rPr lang="en-GB" dirty="0" smtClean="0"/>
              <a:t>;</a:t>
            </a:r>
            <a:endParaRPr lang="en-GB" dirty="0"/>
          </a:p>
          <a:p>
            <a:r>
              <a:rPr lang="en-GB" dirty="0"/>
              <a:t>    </a:t>
            </a:r>
            <a:r>
              <a:rPr lang="en-GB" dirty="0" err="1"/>
              <a:t>printf</a:t>
            </a:r>
            <a:r>
              <a:rPr lang="en-GB" dirty="0"/>
              <a:t>("Enter first string: ");</a:t>
            </a:r>
          </a:p>
          <a:p>
            <a:r>
              <a:rPr lang="en-GB" dirty="0"/>
              <a:t>    </a:t>
            </a:r>
            <a:r>
              <a:rPr lang="en-GB" dirty="0" err="1"/>
              <a:t>scanf</a:t>
            </a:r>
            <a:r>
              <a:rPr lang="en-GB" dirty="0"/>
              <a:t>("%s", str1</a:t>
            </a:r>
            <a:r>
              <a:rPr lang="en-GB" dirty="0" smtClean="0"/>
              <a:t>);</a:t>
            </a:r>
            <a:endParaRPr lang="en-GB" dirty="0"/>
          </a:p>
          <a:p>
            <a:r>
              <a:rPr lang="en-GB" dirty="0"/>
              <a:t>    </a:t>
            </a:r>
            <a:r>
              <a:rPr lang="en-GB" dirty="0" err="1"/>
              <a:t>printf</a:t>
            </a:r>
            <a:r>
              <a:rPr lang="en-GB" dirty="0"/>
              <a:t>("Enter second string: ");</a:t>
            </a:r>
          </a:p>
          <a:p>
            <a:r>
              <a:rPr lang="en-GB" dirty="0"/>
              <a:t>    </a:t>
            </a:r>
            <a:r>
              <a:rPr lang="en-GB" dirty="0" err="1"/>
              <a:t>scanf</a:t>
            </a:r>
            <a:r>
              <a:rPr lang="en-GB" dirty="0"/>
              <a:t>("%s", str2</a:t>
            </a:r>
            <a:r>
              <a:rPr lang="en-GB" dirty="0" smtClean="0"/>
              <a:t>);</a:t>
            </a:r>
            <a:endParaRPr lang="en-GB" dirty="0"/>
          </a:p>
          <a:p>
            <a:r>
              <a:rPr lang="en-GB" dirty="0"/>
              <a:t>    // -------- FIND LENGTH --------</a:t>
            </a:r>
          </a:p>
          <a:p>
            <a:r>
              <a:rPr lang="en-GB" dirty="0"/>
              <a:t>    </a:t>
            </a:r>
            <a:r>
              <a:rPr lang="en-GB" dirty="0" err="1"/>
              <a:t>i</a:t>
            </a:r>
            <a:r>
              <a:rPr lang="en-GB" dirty="0"/>
              <a:t> = 0;</a:t>
            </a:r>
          </a:p>
          <a:p>
            <a:r>
              <a:rPr lang="en-GB" dirty="0"/>
              <a:t>    while (str1[</a:t>
            </a:r>
            <a:r>
              <a:rPr lang="en-GB" dirty="0" err="1"/>
              <a:t>i</a:t>
            </a:r>
            <a:r>
              <a:rPr lang="en-GB" dirty="0"/>
              <a:t>] != '\0')</a:t>
            </a:r>
          </a:p>
          <a:p>
            <a:r>
              <a:rPr lang="en-GB" dirty="0"/>
              <a:t>        </a:t>
            </a:r>
            <a:r>
              <a:rPr lang="en-GB" dirty="0" err="1"/>
              <a:t>i</a:t>
            </a:r>
            <a:r>
              <a:rPr lang="en-GB" dirty="0"/>
              <a:t>++;</a:t>
            </a:r>
          </a:p>
          <a:p>
            <a:r>
              <a:rPr lang="en-GB" dirty="0"/>
              <a:t>    </a:t>
            </a:r>
            <a:r>
              <a:rPr lang="en-GB" dirty="0" err="1"/>
              <a:t>printf</a:t>
            </a:r>
            <a:r>
              <a:rPr lang="en-GB" dirty="0"/>
              <a:t>("Length of first string = %d\n", </a:t>
            </a:r>
            <a:r>
              <a:rPr lang="en-GB" dirty="0" err="1"/>
              <a:t>i</a:t>
            </a:r>
            <a:r>
              <a:rPr lang="en-GB" dirty="0" smtClean="0"/>
              <a:t>);</a:t>
            </a:r>
            <a:endParaRPr lang="en-GB" dirty="0"/>
          </a:p>
          <a:p>
            <a:r>
              <a:rPr lang="en-GB" dirty="0"/>
              <a:t>    j = 0;</a:t>
            </a:r>
          </a:p>
          <a:p>
            <a:r>
              <a:rPr lang="en-GB" dirty="0"/>
              <a:t>    while (str2[j] != '\0')</a:t>
            </a:r>
          </a:p>
          <a:p>
            <a:r>
              <a:rPr lang="en-GB" dirty="0"/>
              <a:t>        j++;</a:t>
            </a:r>
          </a:p>
          <a:p>
            <a:r>
              <a:rPr lang="en-GB" dirty="0"/>
              <a:t>    </a:t>
            </a:r>
            <a:r>
              <a:rPr lang="en-GB" dirty="0" err="1"/>
              <a:t>printf</a:t>
            </a:r>
            <a:r>
              <a:rPr lang="en-GB" dirty="0"/>
              <a:t>("Length of second string = %d\n", j</a:t>
            </a:r>
            <a:r>
              <a:rPr lang="en-GB" dirty="0" smtClean="0"/>
              <a:t>);</a:t>
            </a:r>
            <a:endParaRPr lang="en-GB" dirty="0"/>
          </a:p>
          <a:p>
            <a:endParaRPr lang="en-GB" dirty="0"/>
          </a:p>
        </p:txBody>
      </p:sp>
      <p:sp>
        <p:nvSpPr>
          <p:cNvPr id="5" name="TextBox 4"/>
          <p:cNvSpPr txBox="1"/>
          <p:nvPr/>
        </p:nvSpPr>
        <p:spPr>
          <a:xfrm>
            <a:off x="8000246" y="153908"/>
            <a:ext cx="4191754" cy="5078313"/>
          </a:xfrm>
          <a:prstGeom prst="rect">
            <a:avLst/>
          </a:prstGeom>
          <a:noFill/>
        </p:spPr>
        <p:txBody>
          <a:bodyPr wrap="square" rtlCol="0">
            <a:spAutoFit/>
          </a:bodyPr>
          <a:lstStyle/>
          <a:p>
            <a:r>
              <a:rPr lang="en-GB" dirty="0"/>
              <a:t> // -------- CONCATENATE --------</a:t>
            </a:r>
          </a:p>
          <a:p>
            <a:r>
              <a:rPr lang="en-GB" dirty="0"/>
              <a:t>    </a:t>
            </a:r>
            <a:r>
              <a:rPr lang="en-GB" dirty="0" err="1"/>
              <a:t>i</a:t>
            </a:r>
            <a:r>
              <a:rPr lang="en-GB" dirty="0"/>
              <a:t> = 0;</a:t>
            </a:r>
          </a:p>
          <a:p>
            <a:r>
              <a:rPr lang="en-GB" dirty="0"/>
              <a:t>    while (str1[</a:t>
            </a:r>
            <a:r>
              <a:rPr lang="en-GB" dirty="0" err="1"/>
              <a:t>i</a:t>
            </a:r>
            <a:r>
              <a:rPr lang="en-GB" dirty="0"/>
              <a:t>] != '\0')</a:t>
            </a:r>
          </a:p>
          <a:p>
            <a:r>
              <a:rPr lang="en-GB" dirty="0"/>
              <a:t>        </a:t>
            </a:r>
            <a:r>
              <a:rPr lang="en-GB" dirty="0" err="1"/>
              <a:t>i</a:t>
            </a:r>
            <a:r>
              <a:rPr lang="en-GB" dirty="0"/>
              <a:t>++;    // go to end of str1</a:t>
            </a:r>
          </a:p>
          <a:p>
            <a:endParaRPr lang="en-GB" dirty="0"/>
          </a:p>
          <a:p>
            <a:r>
              <a:rPr lang="en-GB" dirty="0"/>
              <a:t>    j = 0;</a:t>
            </a:r>
          </a:p>
          <a:p>
            <a:r>
              <a:rPr lang="en-GB" dirty="0"/>
              <a:t>    while (str2[j] != '\0') {</a:t>
            </a:r>
          </a:p>
          <a:p>
            <a:r>
              <a:rPr lang="en-GB" dirty="0"/>
              <a:t>        str1[</a:t>
            </a:r>
            <a:r>
              <a:rPr lang="en-GB" dirty="0" err="1"/>
              <a:t>i</a:t>
            </a:r>
            <a:r>
              <a:rPr lang="en-GB" dirty="0"/>
              <a:t>] = str2[j];</a:t>
            </a:r>
          </a:p>
          <a:p>
            <a:r>
              <a:rPr lang="en-GB" dirty="0"/>
              <a:t>        </a:t>
            </a:r>
            <a:r>
              <a:rPr lang="en-GB" dirty="0" err="1"/>
              <a:t>i</a:t>
            </a:r>
            <a:r>
              <a:rPr lang="en-GB" dirty="0"/>
              <a:t>++;</a:t>
            </a:r>
          </a:p>
          <a:p>
            <a:r>
              <a:rPr lang="en-GB" dirty="0"/>
              <a:t>        j++;</a:t>
            </a:r>
          </a:p>
          <a:p>
            <a:r>
              <a:rPr lang="en-GB" dirty="0"/>
              <a:t>    }</a:t>
            </a:r>
          </a:p>
          <a:p>
            <a:r>
              <a:rPr lang="en-GB" dirty="0"/>
              <a:t>    str1[</a:t>
            </a:r>
            <a:r>
              <a:rPr lang="en-GB" dirty="0" err="1"/>
              <a:t>i</a:t>
            </a:r>
            <a:r>
              <a:rPr lang="en-GB" dirty="0"/>
              <a:t>] = '\0';</a:t>
            </a:r>
          </a:p>
          <a:p>
            <a:endParaRPr lang="en-GB" dirty="0"/>
          </a:p>
          <a:p>
            <a:r>
              <a:rPr lang="en-GB" dirty="0"/>
              <a:t>    </a:t>
            </a:r>
            <a:r>
              <a:rPr lang="en-GB" dirty="0" err="1"/>
              <a:t>printf</a:t>
            </a:r>
            <a:r>
              <a:rPr lang="en-GB" dirty="0"/>
              <a:t>("Concatenated string = %s\n", str1);</a:t>
            </a:r>
          </a:p>
          <a:p>
            <a:endParaRPr lang="en-GB" dirty="0"/>
          </a:p>
          <a:p>
            <a:r>
              <a:rPr lang="en-GB" dirty="0"/>
              <a:t>    return 0;</a:t>
            </a:r>
          </a:p>
          <a:p>
            <a:r>
              <a:rPr lang="en-GB" dirty="0"/>
              <a:t>}</a:t>
            </a:r>
          </a:p>
        </p:txBody>
      </p:sp>
      <p:sp>
        <p:nvSpPr>
          <p:cNvPr id="6" name="TextBox 5"/>
          <p:cNvSpPr txBox="1"/>
          <p:nvPr/>
        </p:nvSpPr>
        <p:spPr>
          <a:xfrm>
            <a:off x="4911505" y="153908"/>
            <a:ext cx="2942377" cy="2585323"/>
          </a:xfrm>
          <a:prstGeom prst="rect">
            <a:avLst/>
          </a:prstGeom>
          <a:noFill/>
        </p:spPr>
        <p:txBody>
          <a:bodyPr wrap="square" rtlCol="0">
            <a:spAutoFit/>
          </a:bodyPr>
          <a:lstStyle/>
          <a:p>
            <a:r>
              <a:rPr lang="en-GB" dirty="0"/>
              <a:t> // -------- COPY STRING --------</a:t>
            </a:r>
          </a:p>
          <a:p>
            <a:r>
              <a:rPr lang="en-GB" dirty="0"/>
              <a:t>    </a:t>
            </a:r>
            <a:r>
              <a:rPr lang="en-GB" dirty="0" err="1"/>
              <a:t>int</a:t>
            </a:r>
            <a:r>
              <a:rPr lang="en-GB" dirty="0"/>
              <a:t> k = 0;</a:t>
            </a:r>
          </a:p>
          <a:p>
            <a:r>
              <a:rPr lang="en-GB" dirty="0"/>
              <a:t>    while (str1[k] != '\0') {</a:t>
            </a:r>
          </a:p>
          <a:p>
            <a:r>
              <a:rPr lang="en-GB" dirty="0"/>
              <a:t>        copy[k] = str1[k];</a:t>
            </a:r>
          </a:p>
          <a:p>
            <a:r>
              <a:rPr lang="en-GB" dirty="0"/>
              <a:t>        k++;</a:t>
            </a:r>
          </a:p>
          <a:p>
            <a:r>
              <a:rPr lang="en-GB" dirty="0"/>
              <a:t>    }</a:t>
            </a:r>
          </a:p>
          <a:p>
            <a:r>
              <a:rPr lang="en-GB" dirty="0"/>
              <a:t>    copy[k] = '\0';</a:t>
            </a:r>
          </a:p>
          <a:p>
            <a:r>
              <a:rPr lang="en-GB" dirty="0"/>
              <a:t>    </a:t>
            </a:r>
            <a:r>
              <a:rPr lang="en-GB" dirty="0" err="1"/>
              <a:t>printf</a:t>
            </a:r>
            <a:r>
              <a:rPr lang="en-GB" dirty="0"/>
              <a:t>("Copied string = %s\n", copy);</a:t>
            </a:r>
          </a:p>
        </p:txBody>
      </p:sp>
    </p:spTree>
    <p:extLst>
      <p:ext uri="{BB962C8B-B14F-4D97-AF65-F5344CB8AC3E}">
        <p14:creationId xmlns:p14="http://schemas.microsoft.com/office/powerpoint/2010/main" val="4167583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Write a program in C to input a string and perform the following operations using user-defined functions: </a:t>
            </a:r>
            <a:r>
              <a:rPr lang="en-GB" dirty="0" err="1"/>
              <a:t>i</a:t>
            </a:r>
            <a:r>
              <a:rPr lang="en-GB" dirty="0"/>
              <a:t>)Find the length of the string ii)Reverse the string iii)Compare two strings </a:t>
            </a:r>
          </a:p>
        </p:txBody>
      </p:sp>
    </p:spTree>
    <p:extLst>
      <p:ext uri="{BB962C8B-B14F-4D97-AF65-F5344CB8AC3E}">
        <p14:creationId xmlns:p14="http://schemas.microsoft.com/office/powerpoint/2010/main" val="3188019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6164</TotalTime>
  <Words>2325</Words>
  <Application>Microsoft Office PowerPoint</Application>
  <PresentationFormat>Widescreen</PresentationFormat>
  <Paragraphs>352</Paragraphs>
  <Slides>53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Calibri Light</vt:lpstr>
      <vt:lpstr>Office Theme</vt:lpstr>
      <vt:lpstr>ARRAY</vt:lpstr>
      <vt:lpstr>Array </vt:lpstr>
      <vt:lpstr>PowerPoint Presentation</vt:lpstr>
      <vt:lpstr>Memory representation of Array</vt:lpstr>
      <vt:lpstr>PowerPoint Presentation</vt:lpstr>
      <vt:lpstr>Declaration of Array</vt:lpstr>
      <vt:lpstr>Initialization of Array</vt:lpstr>
      <vt:lpstr>Accessing Array Elements</vt:lpstr>
      <vt:lpstr>PowerPoint Presentation</vt:lpstr>
      <vt:lpstr>Update Array Element</vt:lpstr>
      <vt:lpstr>C Array Traversal</vt:lpstr>
      <vt:lpstr>PowerPoint Presentation</vt:lpstr>
      <vt:lpstr>Two Dimensional Array in C</vt:lpstr>
      <vt:lpstr>Declaration of two dimensional Array in C</vt:lpstr>
      <vt:lpstr>Two-dimensional array example in C </vt:lpstr>
      <vt:lpstr>PowerPoint Presentation</vt:lpstr>
      <vt:lpstr>Array operations(sorting, searching).</vt:lpstr>
      <vt:lpstr>Searching in Arrays:</vt:lpstr>
      <vt:lpstr>PowerPoint Presentation</vt:lpstr>
      <vt:lpstr>PowerPoint Presentation</vt:lpstr>
      <vt:lpstr>PowerPoint Presentation</vt:lpstr>
      <vt:lpstr>Binary Search</vt:lpstr>
      <vt:lpstr>PowerPoint Presentation</vt:lpstr>
      <vt:lpstr>Sorting</vt:lpstr>
      <vt:lpstr>1.Bubble Sort</vt:lpstr>
      <vt:lpstr>PowerPoint Presentation</vt:lpstr>
      <vt:lpstr>Working of Bubble Sort</vt:lpstr>
      <vt:lpstr>2. Remaining Iteration </vt:lpstr>
      <vt:lpstr>PowerPoint Presentation</vt:lpstr>
      <vt:lpstr>PowerPoint Presentation</vt:lpstr>
      <vt:lpstr>Selection Sort </vt:lpstr>
      <vt:lpstr>PowerPoint Presentation</vt:lpstr>
      <vt:lpstr>PowerPoint Presentation</vt:lpstr>
      <vt:lpstr>PowerPoint Presentation</vt:lpstr>
      <vt:lpstr>PowerPoint Presentation</vt:lpstr>
      <vt:lpstr>Strings in C </vt:lpstr>
      <vt:lpstr>PowerPoint Presentation</vt:lpstr>
      <vt:lpstr>Accessing Characters</vt:lpstr>
      <vt:lpstr>Update</vt:lpstr>
      <vt:lpstr>Update</vt:lpstr>
      <vt:lpstr>C String Functions</vt:lpstr>
      <vt:lpstr>strlen()</vt:lpstr>
      <vt:lpstr>strcpy() </vt:lpstr>
      <vt:lpstr>PowerPoint Presentation</vt:lpstr>
      <vt:lpstr>strcat()</vt:lpstr>
      <vt:lpstr>PowerPoint Presentation</vt:lpstr>
      <vt:lpstr>strcmp()</vt:lpstr>
      <vt:lpstr>PowerPoint Presentation</vt:lpstr>
      <vt:lpstr>strrev()</vt:lpstr>
      <vt:lpstr>strlwr()</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dc:title>
  <dc:creator>user</dc:creator>
  <cp:lastModifiedBy>user</cp:lastModifiedBy>
  <cp:revision>32</cp:revision>
  <dcterms:created xsi:type="dcterms:W3CDTF">2025-11-02T17:14:14Z</dcterms:created>
  <dcterms:modified xsi:type="dcterms:W3CDTF">2025-11-23T13:42:13Z</dcterms:modified>
</cp:coreProperties>
</file>